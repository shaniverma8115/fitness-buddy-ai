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ink/ink1.xml" ContentType="application/inkml+xml"/>
  <Override PartName="/ppt/ink/ink2.xml" ContentType="application/inkml+xml"/>
  <Override PartName="/ppt/ink/ink3.xml" ContentType="application/inkml+xml"/>
  <Override PartName="/ppt/ink/ink4.xml" ContentType="application/inkml+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22"/>
  </p:notesMasterIdLst>
  <p:sldIdLst>
    <p:sldId id="290" r:id="rId2"/>
    <p:sldId id="291" r:id="rId3"/>
    <p:sldId id="292" r:id="rId4"/>
    <p:sldId id="293" r:id="rId5"/>
    <p:sldId id="294" r:id="rId6"/>
    <p:sldId id="295" r:id="rId7"/>
    <p:sldId id="296" r:id="rId8"/>
    <p:sldId id="297" r:id="rId9"/>
    <p:sldId id="298" r:id="rId10"/>
    <p:sldId id="299" r:id="rId11"/>
    <p:sldId id="300" r:id="rId12"/>
    <p:sldId id="301" r:id="rId13"/>
    <p:sldId id="302" r:id="rId14"/>
    <p:sldId id="303" r:id="rId15"/>
    <p:sldId id="304" r:id="rId16"/>
    <p:sldId id="305" r:id="rId17"/>
    <p:sldId id="306" r:id="rId18"/>
    <p:sldId id="307" r:id="rId19"/>
    <p:sldId id="308" r:id="rId20"/>
    <p:sldId id="309" r:id="rId21"/>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27" roundtripDataSignature="AMtx7mjt3491jQ7aCoyIz2WXeHKroE7tp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597DED7-87E9-8FFE-C42B-07F44890EE69}" v="36" dt="2026-07-14T12:42:56.737"/>
  </p1510:revLst>
</p1510:revInfo>
</file>

<file path=ppt/tableStyles.xml><?xml version="1.0" encoding="utf-8"?>
<a:tblStyleLst xmlns:a="http://schemas.openxmlformats.org/drawingml/2006/main" def="{0AAD8F4D-43EB-41E5-8A38-28AB6DFB1B60}">
  <a:tblStyle styleId="{0AAD8F4D-43EB-41E5-8A38-28AB6DFB1B60}"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053" autoAdjust="0"/>
  </p:normalViewPr>
  <p:slideViewPr>
    <p:cSldViewPr snapToGrid="0">
      <p:cViewPr varScale="1">
        <p:scale>
          <a:sx n="80" d="100"/>
          <a:sy n="80" d="100"/>
        </p:scale>
        <p:origin x="682" y="5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32"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customschemas.google.com/relationships/presentationmetadata" Target="metadata"/><Relationship Id="rId30" Type="http://schemas.openxmlformats.org/officeDocument/2006/relationships/theme" Target="theme/theme1.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10T21:06:48.673"/>
    </inkml:context>
    <inkml:brush xml:id="br0">
      <inkml:brushProperty name="width" value="0.2" units="cm"/>
      <inkml:brushProperty name="height" value="0.2" units="cm"/>
      <inkml:brushProperty name="color" value="#008C3A"/>
    </inkml:brush>
  </inkml:definitions>
  <inkml:trace contextRef="#ctx0" brushRef="#br0">1 0 15780,'6430'0'0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10T21:07:00.839"/>
    </inkml:context>
    <inkml:brush xml:id="br0">
      <inkml:brushProperty name="width" value="0.2" units="cm"/>
      <inkml:brushProperty name="height" value="0.2" units="cm"/>
      <inkml:brushProperty name="color" value="#008C3A"/>
    </inkml:brush>
  </inkml:definitions>
  <inkml:trace contextRef="#ctx0" brushRef="#br0">1 53 8516,'820'-52'0</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10T21:07:09.708"/>
    </inkml:context>
    <inkml:brush xml:id="br0">
      <inkml:brushProperty name="width" value="0.2" units="cm"/>
      <inkml:brushProperty name="height" value="0.2" units="cm"/>
      <inkml:brushProperty name="color" value="#008C3A"/>
    </inkml:brush>
  </inkml:definitions>
  <inkml:trace contextRef="#ctx0" brushRef="#br0">1 21 14162,'6060'0'0</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10T21:07:13.838"/>
    </inkml:context>
    <inkml:brush xml:id="br0">
      <inkml:brushProperty name="width" value="0.2" units="cm"/>
      <inkml:brushProperty name="height" value="0.2" units="cm"/>
      <inkml:brushProperty name="color" value="#008C3A"/>
    </inkml:brush>
  </inkml:definitions>
  <inkml:trace contextRef="#ctx0" brushRef="#br0">1 56 6553,'2695'0'16384,"-2661"-2"-16384,1-1 0,-1-2 0,40-12 0,-34 8 0,72-8 0,267 15 0,-196 4 0,-53-2 0,404 16 0,-145-6 0,-100-9 0,-181 13 0,-72-8 0,54 1 0,195-8 0,-240 1 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9" name="Google Shape;89;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48C2B95B-FB15-C156-6AF1-35B35818164E}"/>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770A13E9-BC77-63DA-E106-A3FA8022811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29067B0F-2F4F-7081-A661-0AE31BFBB78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0554109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E37D20EF-0791-5303-F96E-0F0C1B50B73D}"/>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9DCBA8EB-6D71-7B5E-841C-4BFFBDA5F1B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5C2CD162-5BE5-06C8-E06C-B4A49D4BCFF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3135405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11626E4B-E119-2382-6F8F-518641144E90}"/>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01A6FF9F-971F-6CD8-61F5-25638A5985F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C8EB5C80-6A4B-AE05-9BE0-03B5AF5C22A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8273657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a:extLst>
            <a:ext uri="{FF2B5EF4-FFF2-40B4-BE49-F238E27FC236}">
              <a16:creationId xmlns:a16="http://schemas.microsoft.com/office/drawing/2014/main" id="{59B870D7-ED5B-C7CD-FB99-2991954CAA65}"/>
            </a:ext>
          </a:extLst>
        </p:cNvPr>
        <p:cNvGrpSpPr/>
        <p:nvPr/>
      </p:nvGrpSpPr>
      <p:grpSpPr>
        <a:xfrm>
          <a:off x="0" y="0"/>
          <a:ext cx="0" cy="0"/>
          <a:chOff x="0" y="0"/>
          <a:chExt cx="0" cy="0"/>
        </a:xfrm>
      </p:grpSpPr>
      <p:sp>
        <p:nvSpPr>
          <p:cNvPr id="129" name="Google Shape;129;p5:notes">
            <a:extLst>
              <a:ext uri="{FF2B5EF4-FFF2-40B4-BE49-F238E27FC236}">
                <a16:creationId xmlns:a16="http://schemas.microsoft.com/office/drawing/2014/main" id="{C8B270BB-F67C-52E3-249C-6FE0C237CA9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0" name="Google Shape;130;p5:notes">
            <a:extLst>
              <a:ext uri="{FF2B5EF4-FFF2-40B4-BE49-F238E27FC236}">
                <a16:creationId xmlns:a16="http://schemas.microsoft.com/office/drawing/2014/main" id="{151B863E-6240-36E9-EB23-2DAA667D251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7985781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a:extLst>
            <a:ext uri="{FF2B5EF4-FFF2-40B4-BE49-F238E27FC236}">
              <a16:creationId xmlns:a16="http://schemas.microsoft.com/office/drawing/2014/main" id="{279463AA-D7FA-5F7E-C4D0-06BDEDCBB932}"/>
            </a:ext>
          </a:extLst>
        </p:cNvPr>
        <p:cNvGrpSpPr/>
        <p:nvPr/>
      </p:nvGrpSpPr>
      <p:grpSpPr>
        <a:xfrm>
          <a:off x="0" y="0"/>
          <a:ext cx="0" cy="0"/>
          <a:chOff x="0" y="0"/>
          <a:chExt cx="0" cy="0"/>
        </a:xfrm>
      </p:grpSpPr>
      <p:sp>
        <p:nvSpPr>
          <p:cNvPr id="171" name="Google Shape;171;p7:notes">
            <a:extLst>
              <a:ext uri="{FF2B5EF4-FFF2-40B4-BE49-F238E27FC236}">
                <a16:creationId xmlns:a16="http://schemas.microsoft.com/office/drawing/2014/main" id="{A84E3171-2C5C-8738-5718-5608CE1B13A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a:extLst>
              <a:ext uri="{FF2B5EF4-FFF2-40B4-BE49-F238E27FC236}">
                <a16:creationId xmlns:a16="http://schemas.microsoft.com/office/drawing/2014/main" id="{E16E406D-2512-5EF2-0167-6C895346954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3496662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p:cNvGrpSpPr/>
        <p:nvPr/>
      </p:nvGrpSpPr>
      <p:grpSpPr>
        <a:xfrm>
          <a:off x="0" y="0"/>
          <a:ext cx="0" cy="0"/>
          <a:chOff x="0" y="0"/>
          <a:chExt cx="0" cy="0"/>
        </a:xfrm>
      </p:grpSpPr>
      <p:sp>
        <p:nvSpPr>
          <p:cNvPr id="189" name="Google Shape;189;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0" name="Google Shape;190;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FB18EFA4-CD13-16C4-504B-6DB7E86CE039}"/>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E8E16183-6BFA-E60A-1235-F3BFB1B1F6E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C4420B06-3455-3F20-5E28-90535F24DA2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96517532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8E9CB32A-B328-07DF-4F33-E0118C920B5A}"/>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8BD392DC-EA03-14B5-7A53-AC36124B41C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F90BE8D5-07EC-73D0-0A62-4778024FF05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28420779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4F18774C-544B-0071-4FA9-86D0ADEC5A87}"/>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68645894-EE59-A5F4-D411-C82EB564E1C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FEE489F0-0910-6D8B-0254-C25DB088272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87735855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BB47F127-39C9-4CE0-52A6-66BD53AE96F2}"/>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57CB72F8-8B0E-1466-D091-917F3E75592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1CEA3A31-DD75-5F0D-19FB-8192F5E7F99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94587127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C2F88CF5-D0C3-0228-6C1A-E849738B9B34}"/>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15C41DBA-EB5E-9EB1-28D2-68EF3081A29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9AACA92E-BC74-25E5-B8D5-2E658F81C2F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5758711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A795C14E-5D6A-39A3-2018-2C72BB451BBD}"/>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85B8BB2F-0927-3841-AC64-CC67B503586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58797E72-A3BC-0A49-07C4-DE7FDA75236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5207868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466C47D1-19F6-52AF-3914-DD3C99058916}"/>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ACA1F779-4C2B-4CD1-FBDD-A40F0A32234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40004D30-6E86-E263-D5DA-7577B1C759B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2216939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3"/>
        <p:cNvGrpSpPr/>
        <p:nvPr/>
      </p:nvGrpSpPr>
      <p:grpSpPr>
        <a:xfrm>
          <a:off x="0" y="0"/>
          <a:ext cx="0" cy="0"/>
          <a:chOff x="0" y="0"/>
          <a:chExt cx="0" cy="0"/>
        </a:xfrm>
      </p:grpSpPr>
      <p:sp>
        <p:nvSpPr>
          <p:cNvPr id="304" name="Google Shape;304;p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05" name="Google Shape;305;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7"/>
        <p:cNvGrpSpPr/>
        <p:nvPr/>
      </p:nvGrpSpPr>
      <p:grpSpPr>
        <a:xfrm>
          <a:off x="0" y="0"/>
          <a:ext cx="0" cy="0"/>
          <a:chOff x="0" y="0"/>
          <a:chExt cx="0" cy="0"/>
        </a:xfrm>
      </p:grpSpPr>
      <p:sp>
        <p:nvSpPr>
          <p:cNvPr id="18" name="Google Shape;18;p2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 name="Google Shape;19;p2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 name="Google Shape;20;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3"/>
        <p:cNvGrpSpPr/>
        <p:nvPr/>
      </p:nvGrpSpPr>
      <p:grpSpPr>
        <a:xfrm>
          <a:off x="0" y="0"/>
          <a:ext cx="0" cy="0"/>
          <a:chOff x="0" y="0"/>
          <a:chExt cx="0" cy="0"/>
        </a:xfrm>
      </p:grpSpPr>
      <p:sp>
        <p:nvSpPr>
          <p:cNvPr id="24" name="Google Shape;24;p24"/>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 name="Google Shape;25;p24"/>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26" name="Google Shape;26;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 name="Google Shape;28;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9"/>
        <p:cNvGrpSpPr/>
        <p:nvPr/>
      </p:nvGrpSpPr>
      <p:grpSpPr>
        <a:xfrm>
          <a:off x="0" y="0"/>
          <a:ext cx="0" cy="0"/>
          <a:chOff x="0" y="0"/>
          <a:chExt cx="0" cy="0"/>
        </a:xfrm>
      </p:grpSpPr>
      <p:sp>
        <p:nvSpPr>
          <p:cNvPr id="30" name="Google Shape;30;p2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 name="Google Shape;31;p25"/>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2" name="Google Shape;32;p25"/>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3" name="Google Shape;33;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6"/>
        <p:cNvGrpSpPr/>
        <p:nvPr/>
      </p:nvGrpSpPr>
      <p:grpSpPr>
        <a:xfrm>
          <a:off x="0" y="0"/>
          <a:ext cx="0" cy="0"/>
          <a:chOff x="0" y="0"/>
          <a:chExt cx="0" cy="0"/>
        </a:xfrm>
      </p:grpSpPr>
      <p:sp>
        <p:nvSpPr>
          <p:cNvPr id="37" name="Google Shape;37;p26"/>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26"/>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9" name="Google Shape;39;p26"/>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0" name="Google Shape;40;p26"/>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1" name="Google Shape;41;p26"/>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2" name="Google Shape;42;p2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5"/>
        <p:cNvGrpSpPr/>
        <p:nvPr/>
      </p:nvGrpSpPr>
      <p:grpSpPr>
        <a:xfrm>
          <a:off x="0" y="0"/>
          <a:ext cx="0" cy="0"/>
          <a:chOff x="0" y="0"/>
          <a:chExt cx="0" cy="0"/>
        </a:xfrm>
      </p:grpSpPr>
      <p:sp>
        <p:nvSpPr>
          <p:cNvPr id="46" name="Google Shape;46;p2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 name="Google Shape;47;p2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0"/>
        <p:cNvGrpSpPr/>
        <p:nvPr/>
      </p:nvGrpSpPr>
      <p:grpSpPr>
        <a:xfrm>
          <a:off x="0" y="0"/>
          <a:ext cx="0" cy="0"/>
          <a:chOff x="0" y="0"/>
          <a:chExt cx="0" cy="0"/>
        </a:xfrm>
      </p:grpSpPr>
      <p:sp>
        <p:nvSpPr>
          <p:cNvPr id="51" name="Google Shape;51;p2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2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2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29"/>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7" name="Google Shape;57;p29"/>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8" name="Google Shape;58;p2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2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3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30"/>
          <p:cNvSpPr>
            <a:spLocks noGrp="1"/>
          </p:cNvSpPr>
          <p:nvPr>
            <p:ph type="pic" idx="2"/>
          </p:nvPr>
        </p:nvSpPr>
        <p:spPr>
          <a:xfrm>
            <a:off x="5183188" y="987425"/>
            <a:ext cx="6172200" cy="4873625"/>
          </a:xfrm>
          <a:prstGeom prst="rect">
            <a:avLst/>
          </a:prstGeom>
          <a:noFill/>
          <a:ln>
            <a:noFill/>
          </a:ln>
        </p:spPr>
      </p:sp>
      <p:sp>
        <p:nvSpPr>
          <p:cNvPr id="64" name="Google Shape;64;p30"/>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5" name="Google Shape;65;p3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3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3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3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3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3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3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3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32"/>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3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7" name="Google Shape;77;p3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3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3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2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2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 name="Google Shape;8;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customXml" Target="../ink/ink1.xml"/><Relationship Id="rId7" Type="http://schemas.openxmlformats.org/officeDocument/2006/relationships/customXml" Target="../ink/ink3.xml"/><Relationship Id="rId2" Type="http://schemas.openxmlformats.org/officeDocument/2006/relationships/image" Target="../media/image4.png"/><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customXml" Target="../ink/ink2.xml"/><Relationship Id="rId10" Type="http://schemas.openxmlformats.org/officeDocument/2006/relationships/image" Target="../media/image8.png"/><Relationship Id="rId4" Type="http://schemas.openxmlformats.org/officeDocument/2006/relationships/image" Target="../media/image5.png"/><Relationship Id="rId9" Type="http://schemas.openxmlformats.org/officeDocument/2006/relationships/customXml" Target="../ink/ink4.xml"/></Relationships>
</file>

<file path=ppt/slides/_rels/slide9.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12.png"/></Relationships>
</file>

<file path=ppt/slides/_rels/slide1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image" Target="../media/image16.jp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7.jp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F97BF8-B3EC-77A2-9BFD-D66830272D56}"/>
              </a:ext>
            </a:extLst>
          </p:cNvPr>
          <p:cNvSpPr>
            <a:spLocks noGrp="1"/>
          </p:cNvSpPr>
          <p:nvPr>
            <p:ph type="title"/>
          </p:nvPr>
        </p:nvSpPr>
        <p:spPr/>
        <p:txBody>
          <a:bodyPr>
            <a:normAutofit/>
          </a:bodyPr>
          <a:lstStyle/>
          <a:p>
            <a:pPr algn="ctr"/>
            <a:r>
              <a:rPr lang="en-US" sz="6600" b="1"/>
              <a:t>IBM University Engagement Project Submission</a:t>
            </a:r>
            <a:br>
              <a:rPr lang="en-US" b="1"/>
            </a:br>
            <a:endParaRPr lang="en-IN"/>
          </a:p>
        </p:txBody>
      </p:sp>
      <p:sp>
        <p:nvSpPr>
          <p:cNvPr id="3" name="Text Placeholder 2">
            <a:extLst>
              <a:ext uri="{FF2B5EF4-FFF2-40B4-BE49-F238E27FC236}">
                <a16:creationId xmlns:a16="http://schemas.microsoft.com/office/drawing/2014/main" id="{FFAB85A1-2169-FF43-3E91-E2E8ADA742FF}"/>
              </a:ext>
            </a:extLst>
          </p:cNvPr>
          <p:cNvSpPr>
            <a:spLocks noGrp="1"/>
          </p:cNvSpPr>
          <p:nvPr>
            <p:ph type="body" idx="1"/>
          </p:nvPr>
        </p:nvSpPr>
        <p:spPr>
          <a:xfrm>
            <a:off x="1014730" y="3903663"/>
            <a:ext cx="10515600" cy="1500187"/>
          </a:xfrm>
        </p:spPr>
        <p:txBody>
          <a:bodyPr/>
          <a:lstStyle/>
          <a:p>
            <a:pPr algn="ctr"/>
            <a:r>
              <a:rPr lang="en-US" b="1" i="1"/>
              <a:t>“Exploring the Power of Agentic AI with IBM Granite and IBM Bob”</a:t>
            </a:r>
            <a:endParaRPr lang="en-IN"/>
          </a:p>
        </p:txBody>
      </p:sp>
    </p:spTree>
    <p:extLst>
      <p:ext uri="{BB962C8B-B14F-4D97-AF65-F5344CB8AC3E}">
        <p14:creationId xmlns:p14="http://schemas.microsoft.com/office/powerpoint/2010/main" val="382855952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2" name="Google Shape;92;p2"/>
          <p:cNvSpPr/>
          <p:nvPr/>
        </p:nvSpPr>
        <p:spPr>
          <a:xfrm>
            <a:off x="690624" y="4425370"/>
            <a:ext cx="10795794" cy="199230"/>
          </a:xfrm>
          <a:prstGeom prst="rect">
            <a:avLst/>
          </a:prstGeom>
          <a:noFill/>
          <a:ln>
            <a:noFill/>
          </a:ln>
        </p:spPr>
        <p:txBody>
          <a:bodyPr spcFirstLastPara="1" wrap="square" lIns="0" tIns="0" rIns="0" bIns="0" anchor="t" anchorCtr="0">
            <a:noAutofit/>
          </a:bodyPr>
          <a:lstStyle/>
          <a:p>
            <a:pPr marL="0" marR="0" lvl="0" indent="0" algn="l" rtl="0">
              <a:lnSpc>
                <a:spcPct val="160000"/>
              </a:lnSpc>
              <a:spcBef>
                <a:spcPts val="0"/>
              </a:spcBef>
              <a:spcAft>
                <a:spcPts val="0"/>
              </a:spcAft>
              <a:buClr>
                <a:schemeClr val="dk1"/>
              </a:buClr>
              <a:buSzPts val="1500"/>
              <a:buFont typeface="Calibri"/>
              <a:buNone/>
            </a:pPr>
            <a:endParaRPr sz="1500" b="0" i="0" u="none" strike="noStrike" cap="none">
              <a:solidFill>
                <a:schemeClr val="dk1"/>
              </a:solidFill>
              <a:latin typeface="Times New Roman"/>
              <a:ea typeface="Times New Roman"/>
              <a:cs typeface="Times New Roman"/>
              <a:sym typeface="Times New Roman"/>
            </a:endParaRPr>
          </a:p>
        </p:txBody>
      </p:sp>
      <p:sp>
        <p:nvSpPr>
          <p:cNvPr id="95" name="Google Shape;95;p2"/>
          <p:cNvSpPr txBox="1"/>
          <p:nvPr/>
        </p:nvSpPr>
        <p:spPr>
          <a:xfrm>
            <a:off x="1102321" y="1174639"/>
            <a:ext cx="7426406" cy="451519"/>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002060"/>
              </a:buClr>
              <a:buSzPts val="3200"/>
              <a:buFont typeface="Times New Roman"/>
              <a:buNone/>
            </a:pPr>
            <a:endParaRPr sz="3200" b="1" i="0" u="none" strike="noStrike" cap="none">
              <a:solidFill>
                <a:srgbClr val="002060"/>
              </a:solidFill>
              <a:latin typeface="Times New Roman"/>
              <a:ea typeface="Times New Roman"/>
              <a:cs typeface="Times New Roman"/>
              <a:sym typeface="Times New Roman"/>
            </a:endParaRPr>
          </a:p>
        </p:txBody>
      </p:sp>
      <p:graphicFrame>
        <p:nvGraphicFramePr>
          <p:cNvPr id="96" name="Google Shape;96;p2"/>
          <p:cNvGraphicFramePr/>
          <p:nvPr>
            <p:extLst>
              <p:ext uri="{D42A27DB-BD31-4B8C-83A1-F6EECF244321}">
                <p14:modId xmlns:p14="http://schemas.microsoft.com/office/powerpoint/2010/main" val="2190826360"/>
              </p:ext>
            </p:extLst>
          </p:nvPr>
        </p:nvGraphicFramePr>
        <p:xfrm>
          <a:off x="1299257" y="2600315"/>
          <a:ext cx="9394989" cy="2167128"/>
        </p:xfrm>
        <a:graphic>
          <a:graphicData uri="http://schemas.openxmlformats.org/drawingml/2006/table">
            <a:tbl>
              <a:tblPr>
                <a:noFill/>
                <a:tableStyleId>{0AAD8F4D-43EB-41E5-8A38-28AB6DFB1B60}</a:tableStyleId>
              </a:tblPr>
              <a:tblGrid>
                <a:gridCol w="2064867">
                  <a:extLst>
                    <a:ext uri="{9D8B030D-6E8A-4147-A177-3AD203B41FA5}">
                      <a16:colId xmlns:a16="http://schemas.microsoft.com/office/drawing/2014/main" val="20000"/>
                    </a:ext>
                  </a:extLst>
                </a:gridCol>
                <a:gridCol w="2443374">
                  <a:extLst>
                    <a:ext uri="{9D8B030D-6E8A-4147-A177-3AD203B41FA5}">
                      <a16:colId xmlns:a16="http://schemas.microsoft.com/office/drawing/2014/main" val="20002"/>
                    </a:ext>
                  </a:extLst>
                </a:gridCol>
                <a:gridCol w="2443374">
                  <a:extLst>
                    <a:ext uri="{9D8B030D-6E8A-4147-A177-3AD203B41FA5}">
                      <a16:colId xmlns:a16="http://schemas.microsoft.com/office/drawing/2014/main" val="20003"/>
                    </a:ext>
                  </a:extLst>
                </a:gridCol>
                <a:gridCol w="2443374">
                  <a:extLst>
                    <a:ext uri="{9D8B030D-6E8A-4147-A177-3AD203B41FA5}">
                      <a16:colId xmlns:a16="http://schemas.microsoft.com/office/drawing/2014/main" val="20004"/>
                    </a:ext>
                  </a:extLst>
                </a:gridCol>
              </a:tblGrid>
              <a:tr h="973237">
                <a:tc>
                  <a:txBody>
                    <a:bodyPr/>
                    <a:lstStyle/>
                    <a:p>
                      <a:pPr marL="0" marR="0" lvl="0" indent="0" algn="ctr" rtl="0">
                        <a:spcBef>
                          <a:spcPts val="0"/>
                        </a:spcBef>
                        <a:spcAft>
                          <a:spcPts val="0"/>
                        </a:spcAft>
                        <a:buNone/>
                      </a:pPr>
                      <a:r>
                        <a:rPr lang="en-US" sz="1800" u="none" strike="noStrike" cap="none"/>
                        <a:t>Student Name</a:t>
                      </a:r>
                      <a:endParaRPr sz="1800" u="none" strike="noStrike" cap="none"/>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spcBef>
                          <a:spcPts val="0"/>
                        </a:spcBef>
                        <a:spcAft>
                          <a:spcPts val="0"/>
                        </a:spcAft>
                        <a:buNone/>
                      </a:pPr>
                      <a:r>
                        <a:rPr lang="en-US" sz="1800" u="none" strike="noStrike" cap="none"/>
                        <a:t>Recent Passport Photo</a:t>
                      </a:r>
                      <a:endParaRPr sz="1800" u="none" strike="noStrike" cap="none"/>
                    </a:p>
                  </a:txBody>
                  <a:tcPr marL="91450" marR="91450" marT="45725" marB="45725" anchor="ctr">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lgn="ctr">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Arial"/>
                          <a:ea typeface="Calibri"/>
                          <a:cs typeface="Arial"/>
                          <a:sym typeface="Calibri"/>
                        </a:rPr>
                        <a:t>Email ID </a:t>
                      </a:r>
                      <a:endParaRPr sz="1800" b="0" i="0" u="none" strike="noStrike" cap="none">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a:solidFill>
                            <a:srgbClr val="000000"/>
                          </a:solidFill>
                          <a:latin typeface="Arial"/>
                          <a:ea typeface="Calibri"/>
                          <a:cs typeface="Arial"/>
                          <a:sym typeface="Calibri"/>
                        </a:rPr>
                        <a:t>Mobile number</a:t>
                      </a:r>
                      <a:endParaRPr sz="1800" b="0" i="0" u="none" strike="noStrike" cap="none">
                        <a:solidFill>
                          <a:srgbClr val="000000"/>
                        </a:solidFill>
                        <a:latin typeface="Arial"/>
                        <a:cs typeface="Arial"/>
                        <a:sym typeface="Arial"/>
                      </a:endParaRPr>
                    </a:p>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a:solidFill>
                            <a:srgbClr val="000000"/>
                          </a:solidFill>
                          <a:latin typeface="Arial"/>
                          <a:ea typeface="Calibri"/>
                          <a:cs typeface="Arial"/>
                          <a:sym typeface="Calibri"/>
                        </a:rPr>
                        <a:t>[WhatsApp] </a:t>
                      </a:r>
                      <a:endParaRPr sz="1800" b="0" i="0" u="none" strike="noStrike" cap="none">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extLst>
                  <a:ext uri="{0D108BD9-81ED-4DB2-BD59-A6C34878D82A}">
                    <a16:rowId xmlns:a16="http://schemas.microsoft.com/office/drawing/2014/main" val="10000"/>
                  </a:ext>
                </a:extLst>
              </a:tr>
              <a:tr h="1193891">
                <a:tc>
                  <a:txBody>
                    <a:bodyPr/>
                    <a:lstStyle/>
                    <a:p>
                      <a:pPr marL="0" marR="0" lvl="0" indent="0" algn="ctr" rtl="0">
                        <a:spcBef>
                          <a:spcPts val="0"/>
                        </a:spcBef>
                        <a:spcAft>
                          <a:spcPts val="0"/>
                        </a:spcAft>
                        <a:buNone/>
                      </a:pPr>
                      <a:r>
                        <a:rPr lang="en-IN" dirty="0"/>
                        <a:t>SHANI VERMA</a:t>
                      </a: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endParaRPr sz="1800"/>
                    </a:p>
                  </a:txBody>
                  <a:tcPr marL="91450" marR="91450" marT="45725" marB="45725">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r>
                        <a:rPr lang="en-IN" dirty="0"/>
                        <a:t>2308390100060@reck.ac.in</a:t>
                      </a: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ctr" rtl="0">
                        <a:spcBef>
                          <a:spcPts val="0"/>
                        </a:spcBef>
                        <a:spcAft>
                          <a:spcPts val="0"/>
                        </a:spcAft>
                        <a:buNone/>
                      </a:pPr>
                      <a:r>
                        <a:rPr lang="en-IN" dirty="0"/>
                        <a:t>8115677411</a:t>
                      </a: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extLst>
                  <a:ext uri="{0D108BD9-81ED-4DB2-BD59-A6C34878D82A}">
                    <a16:rowId xmlns:a16="http://schemas.microsoft.com/office/drawing/2014/main" val="10001"/>
                  </a:ext>
                </a:extLst>
              </a:tr>
            </a:tbl>
          </a:graphicData>
        </a:graphic>
      </p:graphicFrame>
      <p:sp>
        <p:nvSpPr>
          <p:cNvPr id="4" name="TextBox 3">
            <a:extLst>
              <a:ext uri="{FF2B5EF4-FFF2-40B4-BE49-F238E27FC236}">
                <a16:creationId xmlns:a16="http://schemas.microsoft.com/office/drawing/2014/main" id="{A828B9EF-C084-F5D4-CA27-75AF7D995640}"/>
              </a:ext>
            </a:extLst>
          </p:cNvPr>
          <p:cNvSpPr txBox="1"/>
          <p:nvPr/>
        </p:nvSpPr>
        <p:spPr>
          <a:xfrm>
            <a:off x="1206164" y="1460724"/>
            <a:ext cx="10280254" cy="461665"/>
          </a:xfrm>
          <a:prstGeom prst="rect">
            <a:avLst/>
          </a:prstGeom>
          <a:noFill/>
        </p:spPr>
        <p:txBody>
          <a:bodyPr wrap="square" rtlCol="0">
            <a:spAutoFit/>
          </a:bodyPr>
          <a:lstStyle/>
          <a:p>
            <a:r>
              <a:rPr lang="en-US" sz="2400" b="1" dirty="0"/>
              <a:t>Domain of  Project – </a:t>
            </a:r>
            <a:r>
              <a:rPr lang="en-US" sz="2400" b="1" dirty="0">
                <a:highlight>
                  <a:srgbClr val="FFFF00"/>
                </a:highlight>
              </a:rPr>
              <a:t>[ Healthcare ]</a:t>
            </a:r>
            <a:endParaRPr lang="en-IN" sz="2400" b="1" dirty="0">
              <a:highlight>
                <a:srgbClr val="FFFF00"/>
              </a:highlight>
            </a:endParaRPr>
          </a:p>
        </p:txBody>
      </p:sp>
      <p:sp>
        <p:nvSpPr>
          <p:cNvPr id="7" name="TextBox 6">
            <a:extLst>
              <a:ext uri="{FF2B5EF4-FFF2-40B4-BE49-F238E27FC236}">
                <a16:creationId xmlns:a16="http://schemas.microsoft.com/office/drawing/2014/main" id="{3D723CA3-EC2D-165A-F109-3759C4E9C8A4}"/>
              </a:ext>
            </a:extLst>
          </p:cNvPr>
          <p:cNvSpPr txBox="1"/>
          <p:nvPr/>
        </p:nvSpPr>
        <p:spPr>
          <a:xfrm>
            <a:off x="1206162" y="551965"/>
            <a:ext cx="9581177" cy="461665"/>
          </a:xfrm>
          <a:prstGeom prst="rect">
            <a:avLst/>
          </a:prstGeom>
          <a:noFill/>
        </p:spPr>
        <p:txBody>
          <a:bodyPr wrap="square" rtlCol="0">
            <a:spAutoFit/>
          </a:bodyPr>
          <a:lstStyle/>
          <a:p>
            <a:r>
              <a:rPr lang="en-US" sz="2400" b="1" dirty="0"/>
              <a:t>Project Tile – </a:t>
            </a:r>
            <a:r>
              <a:rPr lang="en-US" sz="2400" b="1" dirty="0">
                <a:highlight>
                  <a:srgbClr val="FFFF00"/>
                </a:highlight>
              </a:rPr>
              <a:t>[</a:t>
            </a:r>
            <a:r>
              <a:rPr lang="en-IN" sz="2400" dirty="0">
                <a:highlight>
                  <a:srgbClr val="FFFF00"/>
                </a:highlight>
              </a:rPr>
              <a:t>Fitness Buddy</a:t>
            </a:r>
            <a:r>
              <a:rPr lang="en-US" sz="2400" b="1" dirty="0">
                <a:highlight>
                  <a:srgbClr val="FFFF00"/>
                </a:highlight>
              </a:rPr>
              <a:t>]</a:t>
            </a:r>
            <a:endParaRPr lang="en-IN" sz="2400" b="1" dirty="0">
              <a:highlight>
                <a:srgbClr val="FFFF00"/>
              </a:highlight>
            </a:endParaRPr>
          </a:p>
        </p:txBody>
      </p:sp>
      <p:sp>
        <p:nvSpPr>
          <p:cNvPr id="3" name="TextBox 2">
            <a:extLst>
              <a:ext uri="{FF2B5EF4-FFF2-40B4-BE49-F238E27FC236}">
                <a16:creationId xmlns:a16="http://schemas.microsoft.com/office/drawing/2014/main" id="{B0B023FA-CFEB-ACE9-8425-7E72E307CDC5}"/>
              </a:ext>
            </a:extLst>
          </p:cNvPr>
          <p:cNvSpPr txBox="1"/>
          <p:nvPr/>
        </p:nvSpPr>
        <p:spPr>
          <a:xfrm>
            <a:off x="1211005" y="5210667"/>
            <a:ext cx="6456743" cy="163121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a:solidFill>
                  <a:srgbClr val="FF0000"/>
                </a:solidFill>
              </a:rPr>
              <a:t>Recommended font style and size:</a:t>
            </a:r>
            <a:br>
              <a:rPr lang="en-US" sz="2000">
                <a:solidFill>
                  <a:srgbClr val="FF0000"/>
                </a:solidFill>
              </a:rPr>
            </a:br>
            <a:br>
              <a:rPr lang="en-US" sz="2000"/>
            </a:br>
            <a:r>
              <a:rPr lang="en-US" sz="2000">
                <a:solidFill>
                  <a:srgbClr val="FF0000"/>
                </a:solidFill>
              </a:rPr>
              <a:t>Font Style: Arial</a:t>
            </a:r>
            <a:br>
              <a:rPr lang="en-US" sz="2000">
                <a:solidFill>
                  <a:srgbClr val="FF0000"/>
                </a:solidFill>
              </a:rPr>
            </a:br>
            <a:r>
              <a:rPr lang="en-US" sz="2000">
                <a:solidFill>
                  <a:srgbClr val="FF0000"/>
                </a:solidFill>
              </a:rPr>
              <a:t>Font Size (Heading): 28</a:t>
            </a:r>
          </a:p>
          <a:p>
            <a:r>
              <a:rPr lang="en-US" sz="2000">
                <a:solidFill>
                  <a:srgbClr val="FF0000"/>
                </a:solidFill>
              </a:rPr>
              <a:t>Font Size (Content): 20</a:t>
            </a:r>
          </a:p>
        </p:txBody>
      </p:sp>
      <p:pic>
        <p:nvPicPr>
          <p:cNvPr id="5" name="Picture 4">
            <a:extLst>
              <a:ext uri="{FF2B5EF4-FFF2-40B4-BE49-F238E27FC236}">
                <a16:creationId xmlns:a16="http://schemas.microsoft.com/office/drawing/2014/main" id="{F8F54F68-878B-FD06-B92E-7ECAB4310ABB}"/>
              </a:ext>
            </a:extLst>
          </p:cNvPr>
          <p:cNvPicPr>
            <a:picLocks noChangeAspect="1"/>
          </p:cNvPicPr>
          <p:nvPr/>
        </p:nvPicPr>
        <p:blipFill>
          <a:blip r:embed="rId3"/>
          <a:stretch>
            <a:fillRect/>
          </a:stretch>
        </p:blipFill>
        <p:spPr>
          <a:xfrm>
            <a:off x="3967208" y="3573212"/>
            <a:ext cx="944336" cy="1128243"/>
          </a:xfrm>
          <a:prstGeom prst="rect">
            <a:avLst/>
          </a:prstGeom>
        </p:spPr>
      </p:pic>
    </p:spTree>
    <p:extLst>
      <p:ext uri="{BB962C8B-B14F-4D97-AF65-F5344CB8AC3E}">
        <p14:creationId xmlns:p14="http://schemas.microsoft.com/office/powerpoint/2010/main" val="95231787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F4C0A7C6-2888-EA53-35AB-4072E6B1FDA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C6F6745E-14BA-0766-CE1E-32E29663832D}"/>
              </a:ext>
            </a:extLst>
          </p:cNvPr>
          <p:cNvSpPr txBox="1"/>
          <p:nvPr/>
        </p:nvSpPr>
        <p:spPr>
          <a:xfrm>
            <a:off x="576072" y="944820"/>
            <a:ext cx="10607040" cy="5724644"/>
          </a:xfrm>
          <a:prstGeom prst="rect">
            <a:avLst/>
          </a:prstGeom>
          <a:noFill/>
        </p:spPr>
        <p:txBody>
          <a:bodyPr wrap="square" rtlCol="0">
            <a:spAutoFit/>
          </a:bodyPr>
          <a:lstStyle/>
          <a:p>
            <a:pPr fontAlgn="base"/>
            <a:r>
              <a:rPr lang="en-US" sz="1800" b="1" dirty="0"/>
              <a:t>Problem Statement : Fitness Buddy</a:t>
            </a:r>
            <a:endParaRPr lang="en-US" sz="1800" dirty="0"/>
          </a:p>
          <a:p>
            <a:pPr fontAlgn="base"/>
            <a:endParaRPr lang="en-US" b="1" dirty="0"/>
          </a:p>
          <a:p>
            <a:pPr fontAlgn="base"/>
            <a:r>
              <a:rPr lang="en-US" sz="1800" b="1" dirty="0"/>
              <a:t>The Challenge</a:t>
            </a:r>
            <a:r>
              <a:rPr lang="en-US" sz="1800" dirty="0"/>
              <a:t> </a:t>
            </a:r>
          </a:p>
          <a:p>
            <a:pPr fontAlgn="base"/>
            <a:r>
              <a:rPr lang="en-IN" sz="1600" dirty="0"/>
              <a:t>In today’s fast-paced world, many individuals struggle to maintain a healthy lifestyle due to lack of personalized guidance, time constraints, and inconsistent motivation. Traditional fitness solutions often require expensive subscriptions, in-person consultations, or rigid schedules that don't adapt to personal preferences or daily routines.</a:t>
            </a:r>
          </a:p>
          <a:p>
            <a:pPr fontAlgn="base"/>
            <a:endParaRPr lang="en-US" sz="1600" dirty="0"/>
          </a:p>
          <a:p>
            <a:pPr fontAlgn="base"/>
            <a:r>
              <a:rPr lang="en-US" sz="1800" b="1" dirty="0"/>
              <a:t>The Objective</a:t>
            </a:r>
            <a:r>
              <a:rPr lang="en-US" sz="1800" dirty="0"/>
              <a:t> </a:t>
            </a:r>
          </a:p>
          <a:p>
            <a:pPr fontAlgn="base"/>
            <a:r>
              <a:rPr lang="en-IN" sz="1600" dirty="0"/>
              <a:t>There is a growing need for an accessible, friendly, and intelligent virtual assistant that can provide on demand fitness advice, healthy lifestyle suggestions, and basic nutrition guidance—all tailored to individual needs and available at any time.</a:t>
            </a:r>
          </a:p>
          <a:p>
            <a:pPr fontAlgn="base"/>
            <a:endParaRPr lang="en-IN" dirty="0"/>
          </a:p>
          <a:p>
            <a:pPr fontAlgn="base"/>
            <a:r>
              <a:rPr lang="en-IN" dirty="0"/>
              <a:t> </a:t>
            </a:r>
            <a:r>
              <a:rPr lang="en-IN" sz="1600" dirty="0"/>
              <a:t>Fitness Buddy aims to solve this problem by offering a conversational, AI-powered health and fitness coach that can:</a:t>
            </a:r>
          </a:p>
          <a:p>
            <a:pPr fontAlgn="base"/>
            <a:endParaRPr lang="en-IN" dirty="0"/>
          </a:p>
          <a:p>
            <a:pPr fontAlgn="base"/>
            <a:r>
              <a:rPr lang="en-IN" b="1" dirty="0"/>
              <a:t> </a:t>
            </a:r>
            <a:r>
              <a:rPr lang="en-IN" sz="1600" b="1" dirty="0"/>
              <a:t>Recommend home workouts and routines based on user input</a:t>
            </a:r>
            <a:r>
              <a:rPr lang="en-IN" sz="1600" dirty="0"/>
              <a:t>. </a:t>
            </a:r>
          </a:p>
          <a:p>
            <a:pPr fontAlgn="base"/>
            <a:endParaRPr lang="en-IN" sz="1600" dirty="0"/>
          </a:p>
          <a:p>
            <a:pPr fontAlgn="base"/>
            <a:r>
              <a:rPr lang="en-IN" sz="1600" dirty="0"/>
              <a:t>     • Provide motivational tips and daily fitness inspiration. </a:t>
            </a:r>
          </a:p>
          <a:p>
            <a:pPr fontAlgn="base"/>
            <a:r>
              <a:rPr lang="en-IN" sz="1600" dirty="0"/>
              <a:t>     • Suggest simple, nutritious meal ideas. </a:t>
            </a:r>
          </a:p>
          <a:p>
            <a:pPr fontAlgn="base"/>
            <a:r>
              <a:rPr lang="en-IN" sz="1600" dirty="0"/>
              <a:t>     • Encourage habit-building and consistency. </a:t>
            </a:r>
          </a:p>
          <a:p>
            <a:pPr fontAlgn="base"/>
            <a:endParaRPr lang="en-IN" sz="1600" dirty="0"/>
          </a:p>
          <a:p>
            <a:pPr fontAlgn="base"/>
            <a:r>
              <a:rPr lang="en-IN" sz="1600" b="1" dirty="0"/>
              <a:t>Technology:</a:t>
            </a:r>
            <a:r>
              <a:rPr lang="en-IN" sz="1600" dirty="0"/>
              <a:t> Use of IBM cloud lite services /IBM Granity is mandatory.</a:t>
            </a:r>
            <a:endParaRPr lang="en-US" sz="1600" dirty="0"/>
          </a:p>
          <a:p>
            <a:endParaRPr lang="en-IN" dirty="0"/>
          </a:p>
        </p:txBody>
      </p:sp>
      <p:sp>
        <p:nvSpPr>
          <p:cNvPr id="3" name="TextBox 2">
            <a:extLst>
              <a:ext uri="{FF2B5EF4-FFF2-40B4-BE49-F238E27FC236}">
                <a16:creationId xmlns:a16="http://schemas.microsoft.com/office/drawing/2014/main" id="{3847FA31-EA47-D27A-9D69-AF50A3080AEC}"/>
              </a:ext>
            </a:extLst>
          </p:cNvPr>
          <p:cNvSpPr txBox="1"/>
          <p:nvPr/>
        </p:nvSpPr>
        <p:spPr>
          <a:xfrm>
            <a:off x="576072" y="483155"/>
            <a:ext cx="7214616" cy="461665"/>
          </a:xfrm>
          <a:prstGeom prst="rect">
            <a:avLst/>
          </a:prstGeom>
          <a:noFill/>
        </p:spPr>
        <p:txBody>
          <a:bodyPr wrap="square" rtlCol="0">
            <a:spAutoFit/>
          </a:bodyPr>
          <a:lstStyle/>
          <a:p>
            <a:r>
              <a:rPr lang="en-US" sz="2400" b="1" dirty="0"/>
              <a:t>Problem Statement -</a:t>
            </a:r>
            <a:endParaRPr lang="en-IN" sz="2400" b="1" dirty="0"/>
          </a:p>
        </p:txBody>
      </p:sp>
    </p:spTree>
    <p:extLst>
      <p:ext uri="{BB962C8B-B14F-4D97-AF65-F5344CB8AC3E}">
        <p14:creationId xmlns:p14="http://schemas.microsoft.com/office/powerpoint/2010/main" val="26165337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0471B467-61AA-7BCA-460D-43041E805F9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4A1BF701-ABCA-4DF0-8330-B6AF71EF8E39}"/>
              </a:ext>
            </a:extLst>
          </p:cNvPr>
          <p:cNvSpPr txBox="1"/>
          <p:nvPr/>
        </p:nvSpPr>
        <p:spPr>
          <a:xfrm>
            <a:off x="576072" y="1234440"/>
            <a:ext cx="10607040" cy="5447645"/>
          </a:xfrm>
          <a:prstGeom prst="rect">
            <a:avLst/>
          </a:prstGeom>
          <a:noFill/>
        </p:spPr>
        <p:txBody>
          <a:bodyPr wrap="square" rtlCol="0">
            <a:spAutoFit/>
          </a:bodyPr>
          <a:lstStyle/>
          <a:p>
            <a:pPr fontAlgn="base"/>
            <a:endParaRPr lang="en-US" b="1" dirty="0"/>
          </a:p>
          <a:p>
            <a:r>
              <a:rPr lang="en-IN" sz="1800" b="1" dirty="0"/>
              <a:t>AI-Powered Fitness Buddy</a:t>
            </a:r>
          </a:p>
          <a:p>
            <a:r>
              <a:rPr lang="en-IN" sz="1600" dirty="0"/>
              <a:t>The proposed </a:t>
            </a:r>
            <a:r>
              <a:rPr lang="en-IN" sz="1600" b="1" dirty="0"/>
              <a:t>Fitness Buddy</a:t>
            </a:r>
            <a:r>
              <a:rPr lang="en-IN" sz="1600" dirty="0"/>
              <a:t> is an AI-powered virtual fitness and wellness assistant built using </a:t>
            </a:r>
            <a:r>
              <a:rPr lang="en-IN" sz="1600" b="1" dirty="0"/>
              <a:t>IBM </a:t>
            </a:r>
            <a:r>
              <a:rPr lang="en-IN" sz="1600" b="1" dirty="0" err="1"/>
              <a:t>watsonx</a:t>
            </a:r>
            <a:r>
              <a:rPr lang="en-IN" sz="1600" b="1" dirty="0"/>
              <a:t> Orchestrate, IBM Granite, and IBM Cloud services</a:t>
            </a:r>
            <a:r>
              <a:rPr lang="en-IN" sz="1600" dirty="0"/>
              <a:t>. It provides personalized, on-demand guidance to help users maintain a healthy and consistent lifestyle.</a:t>
            </a:r>
          </a:p>
          <a:p>
            <a:endParaRPr lang="en-IN" sz="1600" dirty="0"/>
          </a:p>
          <a:p>
            <a:r>
              <a:rPr lang="en-IN" sz="1600" dirty="0"/>
              <a:t>The system uses </a:t>
            </a:r>
            <a:r>
              <a:rPr lang="en-IN" sz="1600" b="1" dirty="0"/>
              <a:t>IBM Granite</a:t>
            </a:r>
            <a:r>
              <a:rPr lang="en-IN" sz="1600" dirty="0"/>
              <a:t> to understand user queries and generate structured recommendations based on fitness goals, fitness level, available time, equipment, and dietary preferences.</a:t>
            </a:r>
          </a:p>
          <a:p>
            <a:r>
              <a:rPr lang="en-IN" sz="1600" b="1" dirty="0"/>
              <a:t>Key Capabilities</a:t>
            </a:r>
          </a:p>
          <a:p>
            <a:r>
              <a:rPr lang="en-IN" sz="1600" b="1" dirty="0"/>
              <a:t>Workout Assistant</a:t>
            </a:r>
            <a:r>
              <a:rPr lang="en-IN" sz="1600" dirty="0"/>
              <a:t> – Recommends personalized home workouts and routines.</a:t>
            </a:r>
          </a:p>
          <a:p>
            <a:r>
              <a:rPr lang="en-IN" sz="1600" b="1" dirty="0"/>
              <a:t>Nutrition Assistant</a:t>
            </a:r>
            <a:r>
              <a:rPr lang="en-IN" sz="1600" dirty="0"/>
              <a:t> – Provides basic nutrition guidance and healthy meal suggestions.</a:t>
            </a:r>
          </a:p>
          <a:p>
            <a:r>
              <a:rPr lang="en-IN" sz="1600" b="1" dirty="0"/>
              <a:t>Motivation Assistant</a:t>
            </a:r>
            <a:r>
              <a:rPr lang="en-IN" sz="1600" dirty="0"/>
              <a:t> – Offers fitness motivation and daily inspiration.</a:t>
            </a:r>
          </a:p>
          <a:p>
            <a:r>
              <a:rPr lang="en-IN" sz="1600" b="1" dirty="0"/>
              <a:t>Habit Assistant</a:t>
            </a:r>
            <a:r>
              <a:rPr lang="en-IN" sz="1600" dirty="0"/>
              <a:t> – Helps users build consistent and healthy habits.</a:t>
            </a:r>
          </a:p>
          <a:p>
            <a:r>
              <a:rPr lang="en-IN" sz="1600" b="1" dirty="0"/>
              <a:t>Context-Aware Guidance</a:t>
            </a:r>
            <a:r>
              <a:rPr lang="en-IN" sz="1600" dirty="0"/>
              <a:t> – Adapts recommendations according to user requirements.</a:t>
            </a:r>
          </a:p>
          <a:p>
            <a:endParaRPr lang="en-IN" sz="1600" dirty="0"/>
          </a:p>
          <a:p>
            <a:r>
              <a:rPr lang="en-IN" sz="1600" b="1" dirty="0"/>
              <a:t>IBM </a:t>
            </a:r>
            <a:r>
              <a:rPr lang="en-IN" sz="1600" b="1" dirty="0" err="1"/>
              <a:t>watsonx</a:t>
            </a:r>
            <a:r>
              <a:rPr lang="en-IN" sz="1600" b="1" dirty="0"/>
              <a:t> Orchestrate</a:t>
            </a:r>
            <a:r>
              <a:rPr lang="en-IN" sz="1600" dirty="0"/>
              <a:t> manages the AI agent and its capabilities, while </a:t>
            </a:r>
            <a:r>
              <a:rPr lang="en-IN" sz="1600" b="1" dirty="0"/>
              <a:t>IBM Granite</a:t>
            </a:r>
            <a:r>
              <a:rPr lang="en-IN" sz="1600" dirty="0"/>
              <a:t> powers reasoning and personalized responses. A dedicated knowledge base provides reliable fitness, nutrition, lifestyle, and safety information.</a:t>
            </a:r>
          </a:p>
          <a:p>
            <a:r>
              <a:rPr lang="en-IN" sz="1600" dirty="0"/>
              <a:t>Overall, </a:t>
            </a:r>
            <a:r>
              <a:rPr lang="en-IN" sz="1600" b="1" dirty="0"/>
              <a:t>Fitness Buddy</a:t>
            </a:r>
            <a:r>
              <a:rPr lang="en-IN" sz="1600" dirty="0"/>
              <a:t> acts as a smart and accessible digital fitness companion that helps users improve their workouts, nutrition, motivation, and healthy habits</a:t>
            </a:r>
            <a:r>
              <a:rPr lang="en-IN" dirty="0"/>
              <a:t>.</a:t>
            </a:r>
          </a:p>
          <a:p>
            <a:pPr fontAlgn="base"/>
            <a:endParaRPr lang="en-US" dirty="0"/>
          </a:p>
          <a:p>
            <a:endParaRPr lang="en-IN" dirty="0"/>
          </a:p>
        </p:txBody>
      </p:sp>
      <p:sp>
        <p:nvSpPr>
          <p:cNvPr id="3" name="TextBox 2">
            <a:extLst>
              <a:ext uri="{FF2B5EF4-FFF2-40B4-BE49-F238E27FC236}">
                <a16:creationId xmlns:a16="http://schemas.microsoft.com/office/drawing/2014/main" id="{527F30CC-07EF-8FCC-DA00-C9212F5DAECE}"/>
              </a:ext>
            </a:extLst>
          </p:cNvPr>
          <p:cNvSpPr txBox="1"/>
          <p:nvPr/>
        </p:nvSpPr>
        <p:spPr>
          <a:xfrm>
            <a:off x="576072" y="704088"/>
            <a:ext cx="7214616" cy="461665"/>
          </a:xfrm>
          <a:prstGeom prst="rect">
            <a:avLst/>
          </a:prstGeom>
          <a:noFill/>
        </p:spPr>
        <p:txBody>
          <a:bodyPr wrap="square" rtlCol="0">
            <a:spAutoFit/>
          </a:bodyPr>
          <a:lstStyle/>
          <a:p>
            <a:r>
              <a:rPr lang="en-US" sz="2400" b="1"/>
              <a:t>Proposed Solution -</a:t>
            </a:r>
            <a:endParaRPr lang="en-IN" sz="2400" b="1"/>
          </a:p>
        </p:txBody>
      </p:sp>
    </p:spTree>
    <p:extLst>
      <p:ext uri="{BB962C8B-B14F-4D97-AF65-F5344CB8AC3E}">
        <p14:creationId xmlns:p14="http://schemas.microsoft.com/office/powerpoint/2010/main" val="61945990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7C2A09DE-0AE2-AA94-B2C1-84FDBDB9DC64}"/>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151FBD4A-3273-E454-091D-D5B0678FC299}"/>
              </a:ext>
            </a:extLst>
          </p:cNvPr>
          <p:cNvSpPr txBox="1"/>
          <p:nvPr/>
        </p:nvSpPr>
        <p:spPr>
          <a:xfrm>
            <a:off x="777240" y="484632"/>
            <a:ext cx="7123176" cy="461665"/>
          </a:xfrm>
          <a:prstGeom prst="rect">
            <a:avLst/>
          </a:prstGeom>
          <a:noFill/>
        </p:spPr>
        <p:txBody>
          <a:bodyPr wrap="square" lIns="91440" tIns="45720" rIns="91440" bIns="45720" rtlCol="0" anchor="t">
            <a:spAutoFit/>
          </a:bodyPr>
          <a:lstStyle/>
          <a:p>
            <a:r>
              <a:rPr lang="en-US" sz="2400" b="1"/>
              <a:t>Technology Used</a:t>
            </a:r>
            <a:endParaRPr lang="en-IN" sz="2400" b="1"/>
          </a:p>
        </p:txBody>
      </p:sp>
      <p:sp>
        <p:nvSpPr>
          <p:cNvPr id="3" name="TextBox 2">
            <a:extLst>
              <a:ext uri="{FF2B5EF4-FFF2-40B4-BE49-F238E27FC236}">
                <a16:creationId xmlns:a16="http://schemas.microsoft.com/office/drawing/2014/main" id="{4A7608B5-9906-EFCF-959A-E89FC2E3EE19}"/>
              </a:ext>
            </a:extLst>
          </p:cNvPr>
          <p:cNvSpPr txBox="1"/>
          <p:nvPr/>
        </p:nvSpPr>
        <p:spPr>
          <a:xfrm>
            <a:off x="777240" y="1207008"/>
            <a:ext cx="10515600" cy="5509200"/>
          </a:xfrm>
          <a:prstGeom prst="rect">
            <a:avLst/>
          </a:prstGeom>
          <a:noFill/>
        </p:spPr>
        <p:txBody>
          <a:bodyPr wrap="square" rtlCol="0">
            <a:spAutoFit/>
          </a:bodyPr>
          <a:lstStyle/>
          <a:p>
            <a:pPr marL="285750" indent="-285750">
              <a:buFont typeface="Arial" panose="020B0604020202020204" pitchFamily="34" charset="0"/>
              <a:buChar char="•"/>
            </a:pPr>
            <a:r>
              <a:rPr lang="en-US" sz="1800" b="1" dirty="0"/>
              <a:t>IBM Bob platform </a:t>
            </a:r>
            <a:r>
              <a:rPr lang="en-US" sz="1800" dirty="0"/>
              <a:t>-For designing and orchestrating multi-agent workflows visually</a:t>
            </a:r>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r>
              <a:rPr lang="en-US" sz="1800" b="1" dirty="0"/>
              <a:t>IBM </a:t>
            </a:r>
            <a:r>
              <a:rPr lang="en-US" sz="1800" b="1" dirty="0" err="1"/>
              <a:t>Grainte</a:t>
            </a:r>
            <a:r>
              <a:rPr lang="en-US" sz="1800" b="1" dirty="0"/>
              <a:t> model </a:t>
            </a:r>
            <a:r>
              <a:rPr lang="en-US" sz="1800" dirty="0"/>
              <a:t>-  for </a:t>
            </a:r>
            <a:r>
              <a:rPr lang="en-US" sz="1800" dirty="0" err="1"/>
              <a:t>eg</a:t>
            </a:r>
            <a:r>
              <a:rPr lang="en-US" sz="1800" dirty="0"/>
              <a:t> – ibm-granite-3-2-8b – For natural language understanding, reasoning, and personalization</a:t>
            </a:r>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r>
              <a:rPr lang="en-US" sz="1800" b="1" dirty="0"/>
              <a:t>IBM Cloud </a:t>
            </a:r>
            <a:r>
              <a:rPr lang="en-US" sz="1800" dirty="0"/>
              <a:t>– It provides the infrastructure to build, deploy, and scale the Nutrition Agent efficiently. IBM Cloud enables a </a:t>
            </a:r>
            <a:r>
              <a:rPr lang="en-US" sz="1800" b="1" dirty="0"/>
              <a:t>reliable, secure, and scalable environment</a:t>
            </a:r>
            <a:r>
              <a:rPr lang="en-US" sz="1800" dirty="0"/>
              <a:t> for deploying the Nutrition Agent.</a:t>
            </a:r>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r>
              <a:rPr lang="en-US" sz="1800" b="1" dirty="0"/>
              <a:t>RAG– </a:t>
            </a:r>
            <a:r>
              <a:rPr lang="en-US" sz="1800" dirty="0"/>
              <a:t>RAG to </a:t>
            </a:r>
            <a:r>
              <a:rPr lang="en-US" sz="1800" b="1" dirty="0"/>
              <a:t>fetch real data first, then generate intelligent answers</a:t>
            </a:r>
            <a:r>
              <a:rPr lang="en-US" sz="1800" dirty="0"/>
              <a:t>, making the Nutrition Agent more trustworthy and effective.</a:t>
            </a:r>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r>
              <a:rPr lang="en-US" sz="1800" b="1" dirty="0"/>
              <a:t>IBM Watsonx.ai - </a:t>
            </a:r>
            <a:r>
              <a:rPr lang="en-US" sz="1800" dirty="0"/>
              <a:t>For model deployment, embeddings, and AI governance</a:t>
            </a:r>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r>
              <a:rPr lang="en-IN" sz="1800" b="1" dirty="0"/>
              <a:t>Vector Database </a:t>
            </a:r>
            <a:r>
              <a:rPr lang="en-IN" sz="1800" dirty="0"/>
              <a:t>(FAISS/Chroma) – For RAG-based nutritional data retrieval</a:t>
            </a:r>
            <a:endParaRPr lang="en-US" sz="1800" dirty="0"/>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endParaRPr lang="en-US" sz="1800" dirty="0"/>
          </a:p>
          <a:p>
            <a:endParaRPr lang="en-US" dirty="0"/>
          </a:p>
          <a:p>
            <a:endParaRPr lang="en-IN" dirty="0"/>
          </a:p>
        </p:txBody>
      </p:sp>
    </p:spTree>
    <p:extLst>
      <p:ext uri="{BB962C8B-B14F-4D97-AF65-F5344CB8AC3E}">
        <p14:creationId xmlns:p14="http://schemas.microsoft.com/office/powerpoint/2010/main" val="44360390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31">
          <a:extLst>
            <a:ext uri="{FF2B5EF4-FFF2-40B4-BE49-F238E27FC236}">
              <a16:creationId xmlns:a16="http://schemas.microsoft.com/office/drawing/2014/main" id="{CDF2A78E-5A0E-6814-8AF4-0AE54B0366E1}"/>
            </a:ext>
          </a:extLst>
        </p:cNvPr>
        <p:cNvGrpSpPr/>
        <p:nvPr/>
      </p:nvGrpSpPr>
      <p:grpSpPr>
        <a:xfrm>
          <a:off x="0" y="0"/>
          <a:ext cx="0" cy="0"/>
          <a:chOff x="0" y="0"/>
          <a:chExt cx="0" cy="0"/>
        </a:xfrm>
      </p:grpSpPr>
      <p:sp>
        <p:nvSpPr>
          <p:cNvPr id="135" name="Google Shape;135;p5">
            <a:extLst>
              <a:ext uri="{FF2B5EF4-FFF2-40B4-BE49-F238E27FC236}">
                <a16:creationId xmlns:a16="http://schemas.microsoft.com/office/drawing/2014/main" id="{2A145802-2DD3-EEBA-7D44-210C05B98C91}"/>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2400" b="1">
                <a:sym typeface="Times New Roman"/>
              </a:rPr>
              <a:t>Required Files created using IBM bob -</a:t>
            </a:r>
            <a:endParaRPr sz="2400" b="1">
              <a:sym typeface="Times New Roman"/>
            </a:endParaRPr>
          </a:p>
        </p:txBody>
      </p:sp>
      <p:sp>
        <p:nvSpPr>
          <p:cNvPr id="148" name="Google Shape;148;p5">
            <a:extLst>
              <a:ext uri="{FF2B5EF4-FFF2-40B4-BE49-F238E27FC236}">
                <a16:creationId xmlns:a16="http://schemas.microsoft.com/office/drawing/2014/main" id="{69E3EADC-1EAD-7419-145C-20998925206E}"/>
              </a:ext>
            </a:extLst>
          </p:cNvPr>
          <p:cNvSpPr/>
          <p:nvPr/>
        </p:nvSpPr>
        <p:spPr>
          <a:xfrm>
            <a:off x="2264331" y="6784578"/>
            <a:ext cx="2140744"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49" name="Google Shape;149;p5">
            <a:extLst>
              <a:ext uri="{FF2B5EF4-FFF2-40B4-BE49-F238E27FC236}">
                <a16:creationId xmlns:a16="http://schemas.microsoft.com/office/drawing/2014/main" id="{04E5872A-C331-C8F3-5D71-8E953BAAFE03}"/>
              </a:ext>
            </a:extLst>
          </p:cNvPr>
          <p:cNvSpPr/>
          <p:nvPr/>
        </p:nvSpPr>
        <p:spPr>
          <a:xfrm>
            <a:off x="1782604"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0" name="Google Shape;150;p5">
            <a:extLst>
              <a:ext uri="{FF2B5EF4-FFF2-40B4-BE49-F238E27FC236}">
                <a16:creationId xmlns:a16="http://schemas.microsoft.com/office/drawing/2014/main" id="{76EF3801-5D99-5EFA-9AA2-AD265775E354}"/>
              </a:ext>
            </a:extLst>
          </p:cNvPr>
          <p:cNvSpPr/>
          <p:nvPr/>
        </p:nvSpPr>
        <p:spPr>
          <a:xfrm>
            <a:off x="5732383"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1" name="Google Shape;151;p5">
            <a:extLst>
              <a:ext uri="{FF2B5EF4-FFF2-40B4-BE49-F238E27FC236}">
                <a16:creationId xmlns:a16="http://schemas.microsoft.com/office/drawing/2014/main" id="{DAD76A8A-9F2C-9EA9-25E9-40CD0FFAA869}"/>
              </a:ext>
            </a:extLst>
          </p:cNvPr>
          <p:cNvSpPr/>
          <p:nvPr/>
        </p:nvSpPr>
        <p:spPr>
          <a:xfrm>
            <a:off x="5077301"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2" name="Google Shape;152;p5">
            <a:extLst>
              <a:ext uri="{FF2B5EF4-FFF2-40B4-BE49-F238E27FC236}">
                <a16:creationId xmlns:a16="http://schemas.microsoft.com/office/drawing/2014/main" id="{8D9C4260-2673-337C-C898-4C22E0F8FD65}"/>
              </a:ext>
            </a:extLst>
          </p:cNvPr>
          <p:cNvSpPr/>
          <p:nvPr/>
        </p:nvSpPr>
        <p:spPr>
          <a:xfrm>
            <a:off x="9027081"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3" name="Google Shape;153;p5">
            <a:extLst>
              <a:ext uri="{FF2B5EF4-FFF2-40B4-BE49-F238E27FC236}">
                <a16:creationId xmlns:a16="http://schemas.microsoft.com/office/drawing/2014/main" id="{6167C3C6-3747-E373-84C3-3927C443B067}"/>
              </a:ext>
            </a:extLst>
          </p:cNvPr>
          <p:cNvSpPr/>
          <p:nvPr/>
        </p:nvSpPr>
        <p:spPr>
          <a:xfrm>
            <a:off x="8371999"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pic>
        <p:nvPicPr>
          <p:cNvPr id="6" name="Picture 5">
            <a:extLst>
              <a:ext uri="{FF2B5EF4-FFF2-40B4-BE49-F238E27FC236}">
                <a16:creationId xmlns:a16="http://schemas.microsoft.com/office/drawing/2014/main" id="{9896ADF0-2751-93F1-F47B-6E83CEFF89ED}"/>
              </a:ext>
            </a:extLst>
          </p:cNvPr>
          <p:cNvPicPr>
            <a:picLocks noChangeAspect="1"/>
          </p:cNvPicPr>
          <p:nvPr/>
        </p:nvPicPr>
        <p:blipFill>
          <a:blip r:embed="rId3"/>
          <a:stretch>
            <a:fillRect/>
          </a:stretch>
        </p:blipFill>
        <p:spPr>
          <a:xfrm>
            <a:off x="429144" y="820567"/>
            <a:ext cx="10606478" cy="5599556"/>
          </a:xfrm>
          <a:prstGeom prst="rect">
            <a:avLst/>
          </a:prstGeom>
        </p:spPr>
      </p:pic>
    </p:spTree>
    <p:extLst>
      <p:ext uri="{BB962C8B-B14F-4D97-AF65-F5344CB8AC3E}">
        <p14:creationId xmlns:p14="http://schemas.microsoft.com/office/powerpoint/2010/main" val="311496363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73">
          <a:extLst>
            <a:ext uri="{FF2B5EF4-FFF2-40B4-BE49-F238E27FC236}">
              <a16:creationId xmlns:a16="http://schemas.microsoft.com/office/drawing/2014/main" id="{CA6090C0-0478-84F9-6D20-717B6FEB7326}"/>
            </a:ext>
          </a:extLst>
        </p:cNvPr>
        <p:cNvGrpSpPr/>
        <p:nvPr/>
      </p:nvGrpSpPr>
      <p:grpSpPr>
        <a:xfrm>
          <a:off x="0" y="0"/>
          <a:ext cx="0" cy="0"/>
          <a:chOff x="0" y="0"/>
          <a:chExt cx="0" cy="0"/>
        </a:xfrm>
      </p:grpSpPr>
      <p:sp>
        <p:nvSpPr>
          <p:cNvPr id="2" name="Google Shape;135;p5">
            <a:extLst>
              <a:ext uri="{FF2B5EF4-FFF2-40B4-BE49-F238E27FC236}">
                <a16:creationId xmlns:a16="http://schemas.microsoft.com/office/drawing/2014/main" id="{B64CF172-D2AF-03D8-F919-AA7827A0D969}"/>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3500" b="1" i="0" u="none" strike="noStrike" cap="none">
                <a:solidFill>
                  <a:srgbClr val="051D3A"/>
                </a:solidFill>
                <a:latin typeface="Times New Roman"/>
                <a:ea typeface="Times New Roman"/>
                <a:cs typeface="Times New Roman"/>
                <a:sym typeface="Times New Roman"/>
              </a:rPr>
              <a:t> </a:t>
            </a:r>
            <a:r>
              <a:rPr lang="en-US" sz="2400" b="1" i="0" u="none" strike="noStrike" cap="none">
                <a:solidFill>
                  <a:srgbClr val="051D3A"/>
                </a:solidFill>
                <a:latin typeface="Times New Roman"/>
                <a:ea typeface="Times New Roman"/>
                <a:cs typeface="Times New Roman"/>
                <a:sym typeface="Times New Roman"/>
              </a:rPr>
              <a:t>IBM Bob Screenshots:</a:t>
            </a:r>
            <a:endParaRPr sz="2400" b="1">
              <a:sym typeface="Times New Roman"/>
            </a:endParaRPr>
          </a:p>
        </p:txBody>
      </p:sp>
      <p:pic>
        <p:nvPicPr>
          <p:cNvPr id="7" name="Picture 6">
            <a:extLst>
              <a:ext uri="{FF2B5EF4-FFF2-40B4-BE49-F238E27FC236}">
                <a16:creationId xmlns:a16="http://schemas.microsoft.com/office/drawing/2014/main" id="{2CC56B33-4177-2723-BD92-6BD2AD6317F0}"/>
              </a:ext>
            </a:extLst>
          </p:cNvPr>
          <p:cNvPicPr>
            <a:picLocks noChangeAspect="1"/>
          </p:cNvPicPr>
          <p:nvPr/>
        </p:nvPicPr>
        <p:blipFill>
          <a:blip r:embed="rId3"/>
          <a:stretch>
            <a:fillRect/>
          </a:stretch>
        </p:blipFill>
        <p:spPr>
          <a:xfrm>
            <a:off x="304800" y="924138"/>
            <a:ext cx="10706100" cy="5610623"/>
          </a:xfrm>
          <a:prstGeom prst="rect">
            <a:avLst/>
          </a:prstGeom>
        </p:spPr>
      </p:pic>
    </p:spTree>
    <p:extLst>
      <p:ext uri="{BB962C8B-B14F-4D97-AF65-F5344CB8AC3E}">
        <p14:creationId xmlns:p14="http://schemas.microsoft.com/office/powerpoint/2010/main" val="131654555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4CA04BC3-2A72-45AF-C63C-BF99F236D2A7}"/>
              </a:ext>
            </a:extLst>
          </p:cNvPr>
          <p:cNvPicPr>
            <a:picLocks noChangeAspect="1"/>
          </p:cNvPicPr>
          <p:nvPr/>
        </p:nvPicPr>
        <p:blipFill>
          <a:blip r:embed="rId2"/>
          <a:stretch>
            <a:fillRect/>
          </a:stretch>
        </p:blipFill>
        <p:spPr>
          <a:xfrm>
            <a:off x="328066" y="200025"/>
            <a:ext cx="10949534" cy="6281230"/>
          </a:xfrm>
          <a:prstGeom prst="rect">
            <a:avLst/>
          </a:prstGeom>
        </p:spPr>
      </p:pic>
      <mc:AlternateContent xmlns:mc="http://schemas.openxmlformats.org/markup-compatibility/2006">
        <mc:Choice xmlns:p14="http://schemas.microsoft.com/office/powerpoint/2010/main" Requires="p14">
          <p:contentPart p14:bwMode="auto" r:id="rId3">
            <p14:nvContentPartPr>
              <p14:cNvPr id="14" name="Ink 13">
                <a:extLst>
                  <a:ext uri="{FF2B5EF4-FFF2-40B4-BE49-F238E27FC236}">
                    <a16:creationId xmlns:a16="http://schemas.microsoft.com/office/drawing/2014/main" id="{3BCFF959-3C0E-22F0-ACF8-B2B30D08B64C}"/>
                  </a:ext>
                </a:extLst>
              </p14:cNvPr>
              <p14:cNvContentPartPr/>
              <p14:nvPr/>
            </p14:nvContentPartPr>
            <p14:xfrm>
              <a:off x="3428610" y="790575"/>
              <a:ext cx="2315160" cy="720"/>
            </p14:xfrm>
          </p:contentPart>
        </mc:Choice>
        <mc:Fallback>
          <p:pic>
            <p:nvPicPr>
              <p:cNvPr id="14" name="Ink 13">
                <a:extLst>
                  <a:ext uri="{FF2B5EF4-FFF2-40B4-BE49-F238E27FC236}">
                    <a16:creationId xmlns:a16="http://schemas.microsoft.com/office/drawing/2014/main" id="{3BCFF959-3C0E-22F0-ACF8-B2B30D08B64C}"/>
                  </a:ext>
                </a:extLst>
              </p:cNvPr>
              <p:cNvPicPr/>
              <p:nvPr/>
            </p:nvPicPr>
            <p:blipFill>
              <a:blip r:embed="rId4"/>
              <a:stretch>
                <a:fillRect/>
              </a:stretch>
            </p:blipFill>
            <p:spPr>
              <a:xfrm>
                <a:off x="3392970" y="718575"/>
                <a:ext cx="2386800" cy="144000"/>
              </a:xfrm>
              <a:prstGeom prst="rect">
                <a:avLst/>
              </a:prstGeom>
            </p:spPr>
          </p:pic>
        </mc:Fallback>
      </mc:AlternateContent>
      <mc:AlternateContent xmlns:mc="http://schemas.openxmlformats.org/markup-compatibility/2006">
        <mc:Choice xmlns:p14="http://schemas.microsoft.com/office/powerpoint/2010/main" Requires="p14">
          <p:contentPart p14:bwMode="auto" r:id="rId5">
            <p14:nvContentPartPr>
              <p14:cNvPr id="16" name="Ink 15">
                <a:extLst>
                  <a:ext uri="{FF2B5EF4-FFF2-40B4-BE49-F238E27FC236}">
                    <a16:creationId xmlns:a16="http://schemas.microsoft.com/office/drawing/2014/main" id="{52058547-1EDB-1E2C-74E0-854F5326045A}"/>
                  </a:ext>
                </a:extLst>
              </p14:cNvPr>
              <p14:cNvContentPartPr/>
              <p14:nvPr/>
            </p14:nvContentPartPr>
            <p14:xfrm>
              <a:off x="5676450" y="761775"/>
              <a:ext cx="295920" cy="19080"/>
            </p14:xfrm>
          </p:contentPart>
        </mc:Choice>
        <mc:Fallback>
          <p:pic>
            <p:nvPicPr>
              <p:cNvPr id="16" name="Ink 15">
                <a:extLst>
                  <a:ext uri="{FF2B5EF4-FFF2-40B4-BE49-F238E27FC236}">
                    <a16:creationId xmlns:a16="http://schemas.microsoft.com/office/drawing/2014/main" id="{52058547-1EDB-1E2C-74E0-854F5326045A}"/>
                  </a:ext>
                </a:extLst>
              </p:cNvPr>
              <p:cNvPicPr/>
              <p:nvPr/>
            </p:nvPicPr>
            <p:blipFill>
              <a:blip r:embed="rId6"/>
              <a:stretch>
                <a:fillRect/>
              </a:stretch>
            </p:blipFill>
            <p:spPr>
              <a:xfrm>
                <a:off x="5640810" y="726135"/>
                <a:ext cx="367560" cy="90720"/>
              </a:xfrm>
              <a:prstGeom prst="rect">
                <a:avLst/>
              </a:prstGeom>
            </p:spPr>
          </p:pic>
        </mc:Fallback>
      </mc:AlternateContent>
      <mc:AlternateContent xmlns:mc="http://schemas.openxmlformats.org/markup-compatibility/2006">
        <mc:Choice xmlns:p14="http://schemas.microsoft.com/office/powerpoint/2010/main" Requires="p14">
          <p:contentPart p14:bwMode="auto" r:id="rId7">
            <p14:nvContentPartPr>
              <p14:cNvPr id="18" name="Ink 17">
                <a:extLst>
                  <a:ext uri="{FF2B5EF4-FFF2-40B4-BE49-F238E27FC236}">
                    <a16:creationId xmlns:a16="http://schemas.microsoft.com/office/drawing/2014/main" id="{D92EB95B-4D54-F474-E1D1-6B721AF0DEF6}"/>
                  </a:ext>
                </a:extLst>
              </p14:cNvPr>
              <p14:cNvContentPartPr/>
              <p14:nvPr/>
            </p14:nvContentPartPr>
            <p14:xfrm>
              <a:off x="3533370" y="780495"/>
              <a:ext cx="2181960" cy="720"/>
            </p14:xfrm>
          </p:contentPart>
        </mc:Choice>
        <mc:Fallback>
          <p:pic>
            <p:nvPicPr>
              <p:cNvPr id="18" name="Ink 17">
                <a:extLst>
                  <a:ext uri="{FF2B5EF4-FFF2-40B4-BE49-F238E27FC236}">
                    <a16:creationId xmlns:a16="http://schemas.microsoft.com/office/drawing/2014/main" id="{D92EB95B-4D54-F474-E1D1-6B721AF0DEF6}"/>
                  </a:ext>
                </a:extLst>
              </p:cNvPr>
              <p:cNvPicPr/>
              <p:nvPr/>
            </p:nvPicPr>
            <p:blipFill>
              <a:blip r:embed="rId8"/>
              <a:stretch>
                <a:fillRect/>
              </a:stretch>
            </p:blipFill>
            <p:spPr>
              <a:xfrm>
                <a:off x="3497730" y="708495"/>
                <a:ext cx="2253600" cy="144000"/>
              </a:xfrm>
              <a:prstGeom prst="rect">
                <a:avLst/>
              </a:prstGeom>
            </p:spPr>
          </p:pic>
        </mc:Fallback>
      </mc:AlternateContent>
      <mc:AlternateContent xmlns:mc="http://schemas.openxmlformats.org/markup-compatibility/2006">
        <mc:Choice xmlns:p14="http://schemas.microsoft.com/office/powerpoint/2010/main" Requires="p14">
          <p:contentPart p14:bwMode="auto" r:id="rId9">
            <p14:nvContentPartPr>
              <p14:cNvPr id="19" name="Ink 18">
                <a:extLst>
                  <a:ext uri="{FF2B5EF4-FFF2-40B4-BE49-F238E27FC236}">
                    <a16:creationId xmlns:a16="http://schemas.microsoft.com/office/drawing/2014/main" id="{9A3892BC-1762-8E67-9583-CD3714857953}"/>
                  </a:ext>
                </a:extLst>
              </p14:cNvPr>
              <p14:cNvContentPartPr/>
              <p14:nvPr/>
            </p14:nvContentPartPr>
            <p14:xfrm>
              <a:off x="3771690" y="732255"/>
              <a:ext cx="1977480" cy="20520"/>
            </p14:xfrm>
          </p:contentPart>
        </mc:Choice>
        <mc:Fallback>
          <p:pic>
            <p:nvPicPr>
              <p:cNvPr id="19" name="Ink 18">
                <a:extLst>
                  <a:ext uri="{FF2B5EF4-FFF2-40B4-BE49-F238E27FC236}">
                    <a16:creationId xmlns:a16="http://schemas.microsoft.com/office/drawing/2014/main" id="{9A3892BC-1762-8E67-9583-CD3714857953}"/>
                  </a:ext>
                </a:extLst>
              </p:cNvPr>
              <p:cNvPicPr/>
              <p:nvPr/>
            </p:nvPicPr>
            <p:blipFill>
              <a:blip r:embed="rId10"/>
              <a:stretch>
                <a:fillRect/>
              </a:stretch>
            </p:blipFill>
            <p:spPr>
              <a:xfrm>
                <a:off x="3736050" y="696615"/>
                <a:ext cx="2049120" cy="92160"/>
              </a:xfrm>
              <a:prstGeom prst="rect">
                <a:avLst/>
              </a:prstGeom>
            </p:spPr>
          </p:pic>
        </mc:Fallback>
      </mc:AlternateContent>
    </p:spTree>
    <p:extLst>
      <p:ext uri="{BB962C8B-B14F-4D97-AF65-F5344CB8AC3E}">
        <p14:creationId xmlns:p14="http://schemas.microsoft.com/office/powerpoint/2010/main" val="23237189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2" name="Google Shape;135;p5">
            <a:extLst>
              <a:ext uri="{FF2B5EF4-FFF2-40B4-BE49-F238E27FC236}">
                <a16:creationId xmlns:a16="http://schemas.microsoft.com/office/drawing/2014/main" id="{78578745-3233-E2C4-2AF4-55BA57C68D3F}"/>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lvl="0"/>
            <a:r>
              <a:rPr lang="en-US" sz="2400" b="1" dirty="0">
                <a:solidFill>
                  <a:schemeClr val="dk1"/>
                </a:solidFill>
                <a:latin typeface="Calibri"/>
                <a:ea typeface="Calibri"/>
                <a:cs typeface="Calibri"/>
                <a:sym typeface="Calibri"/>
              </a:rPr>
              <a:t>Architecture blueprint for IBM bob:</a:t>
            </a:r>
            <a:endParaRPr lang="en-US" sz="2400" dirty="0"/>
          </a:p>
        </p:txBody>
      </p:sp>
      <p:pic>
        <p:nvPicPr>
          <p:cNvPr id="4" name="Picture 3">
            <a:extLst>
              <a:ext uri="{FF2B5EF4-FFF2-40B4-BE49-F238E27FC236}">
                <a16:creationId xmlns:a16="http://schemas.microsoft.com/office/drawing/2014/main" id="{B804A994-ABB9-0C40-A986-14EFB6A2B293}"/>
              </a:ext>
            </a:extLst>
          </p:cNvPr>
          <p:cNvPicPr>
            <a:picLocks noChangeAspect="1"/>
          </p:cNvPicPr>
          <p:nvPr/>
        </p:nvPicPr>
        <p:blipFill>
          <a:blip r:embed="rId3"/>
          <a:stretch>
            <a:fillRect/>
          </a:stretch>
        </p:blipFill>
        <p:spPr>
          <a:xfrm>
            <a:off x="537590" y="771747"/>
            <a:ext cx="9572625" cy="5830591"/>
          </a:xfrm>
          <a:prstGeom prst="rect">
            <a:avLst/>
          </a:prstGeom>
        </p:spPr>
      </p:pic>
    </p:spTree>
    <p:extLst>
      <p:ext uri="{BB962C8B-B14F-4D97-AF65-F5344CB8AC3E}">
        <p14:creationId xmlns:p14="http://schemas.microsoft.com/office/powerpoint/2010/main" val="44519516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91"/>
        <p:cNvGrpSpPr/>
        <p:nvPr/>
      </p:nvGrpSpPr>
      <p:grpSpPr>
        <a:xfrm>
          <a:off x="0" y="0"/>
          <a:ext cx="0" cy="0"/>
          <a:chOff x="0" y="0"/>
          <a:chExt cx="0" cy="0"/>
        </a:xfrm>
      </p:grpSpPr>
      <p:pic>
        <p:nvPicPr>
          <p:cNvPr id="196" name="Google Shape;196;p9"/>
          <p:cNvPicPr preferRelativeResize="0"/>
          <p:nvPr/>
        </p:nvPicPr>
        <p:blipFill rotWithShape="1">
          <a:blip r:embed="rId3">
            <a:alphaModFix/>
          </a:blip>
          <a:srcRect/>
          <a:stretch/>
        </p:blipFill>
        <p:spPr>
          <a:xfrm>
            <a:off x="8371985" y="1167493"/>
            <a:ext cx="3015343" cy="4523014"/>
          </a:xfrm>
          <a:prstGeom prst="rect">
            <a:avLst/>
          </a:prstGeom>
          <a:noFill/>
          <a:ln>
            <a:noFill/>
          </a:ln>
        </p:spPr>
      </p:pic>
      <p:sp>
        <p:nvSpPr>
          <p:cNvPr id="2" name="TextBox 1">
            <a:extLst>
              <a:ext uri="{FF2B5EF4-FFF2-40B4-BE49-F238E27FC236}">
                <a16:creationId xmlns:a16="http://schemas.microsoft.com/office/drawing/2014/main" id="{B84A7B44-8B20-5A39-ED43-DA98D0FC7976}"/>
              </a:ext>
            </a:extLst>
          </p:cNvPr>
          <p:cNvSpPr txBox="1"/>
          <p:nvPr/>
        </p:nvSpPr>
        <p:spPr>
          <a:xfrm>
            <a:off x="475488" y="283464"/>
            <a:ext cx="9317736" cy="584775"/>
          </a:xfrm>
          <a:prstGeom prst="rect">
            <a:avLst/>
          </a:prstGeom>
          <a:noFill/>
        </p:spPr>
        <p:txBody>
          <a:bodyPr wrap="square" rtlCol="0">
            <a:spAutoFit/>
          </a:bodyPr>
          <a:lstStyle/>
          <a:p>
            <a:r>
              <a:rPr lang="en-US" sz="3200" b="1" dirty="0"/>
              <a:t>Role of Agentic AI in the solution </a:t>
            </a:r>
            <a:endParaRPr lang="en-IN" sz="3200" b="1" dirty="0"/>
          </a:p>
        </p:txBody>
      </p:sp>
      <p:sp>
        <p:nvSpPr>
          <p:cNvPr id="3" name="TextBox 2">
            <a:extLst>
              <a:ext uri="{FF2B5EF4-FFF2-40B4-BE49-F238E27FC236}">
                <a16:creationId xmlns:a16="http://schemas.microsoft.com/office/drawing/2014/main" id="{322462E8-EB3A-DA7D-44CB-4E757803A755}"/>
              </a:ext>
            </a:extLst>
          </p:cNvPr>
          <p:cNvSpPr txBox="1"/>
          <p:nvPr/>
        </p:nvSpPr>
        <p:spPr>
          <a:xfrm>
            <a:off x="621792" y="1167493"/>
            <a:ext cx="7406640" cy="4401205"/>
          </a:xfrm>
          <a:prstGeom prst="rect">
            <a:avLst/>
          </a:prstGeom>
          <a:noFill/>
        </p:spPr>
        <p:txBody>
          <a:bodyPr wrap="square" rtlCol="0">
            <a:spAutoFit/>
          </a:bodyPr>
          <a:lstStyle/>
          <a:p>
            <a:r>
              <a:rPr lang="en-US" b="1" dirty="0"/>
              <a:t>Role of Agentic AI in </a:t>
            </a:r>
            <a:r>
              <a:rPr lang="en-IN" b="1" dirty="0"/>
              <a:t>Fitness Agent</a:t>
            </a:r>
            <a:br>
              <a:rPr lang="en-US" b="1" dirty="0"/>
            </a:br>
            <a:r>
              <a:rPr lang="en-IN" dirty="0"/>
              <a:t>Agentic AI enables </a:t>
            </a:r>
            <a:r>
              <a:rPr lang="en-IN" b="1" dirty="0"/>
              <a:t>Fitness Agent</a:t>
            </a:r>
            <a:r>
              <a:rPr lang="en-IN" dirty="0"/>
              <a:t> to function as an intelligent and personalized fitness assistant rather than a simple chatbot. Using </a:t>
            </a:r>
            <a:r>
              <a:rPr lang="en-IN" b="1" dirty="0"/>
              <a:t>IBM </a:t>
            </a:r>
            <a:r>
              <a:rPr lang="en-IN" b="1" dirty="0" err="1"/>
              <a:t>watsonx</a:t>
            </a:r>
            <a:r>
              <a:rPr lang="en-IN" b="1" dirty="0"/>
              <a:t> Orchestrate and IBM Granite</a:t>
            </a:r>
            <a:r>
              <a:rPr lang="en-IN" dirty="0"/>
              <a:t>, it understands user requests and provides relevant fitness, nutrition, lifestyle, and motivational guidance.</a:t>
            </a:r>
          </a:p>
          <a:p>
            <a:r>
              <a:rPr lang="en-IN" dirty="0"/>
              <a:t>The agent performs specialized tasks such as </a:t>
            </a:r>
            <a:r>
              <a:rPr lang="en-IN" b="1" dirty="0"/>
              <a:t>generating home workout routines, suggesting healthy meals, providing basic nutrition guidance, offering motivation, and supporting habit-building</a:t>
            </a:r>
            <a:r>
              <a:rPr lang="en-IN" dirty="0"/>
              <a:t>. These capabilities work together to provide users with practical and structured recommendations.</a:t>
            </a:r>
          </a:p>
          <a:p>
            <a:r>
              <a:rPr lang="en-IN" dirty="0"/>
              <a:t>Agentic AI also provides </a:t>
            </a:r>
            <a:r>
              <a:rPr lang="en-IN" b="1" dirty="0"/>
              <a:t>context awareness</a:t>
            </a:r>
            <a:r>
              <a:rPr lang="en-IN" dirty="0"/>
              <a:t>, considering details such as the user's fitness level, goals, available time, equipment, dietary preferences, and daily routine to generate personalized suggestions. It can adapt recommendations when users change their requirements, such as having less workout time or different equipment.</a:t>
            </a:r>
          </a:p>
          <a:p>
            <a:r>
              <a:rPr lang="en-IN" dirty="0"/>
              <a:t>Additionally, the agent follows defined </a:t>
            </a:r>
            <a:r>
              <a:rPr lang="en-IN" b="1" dirty="0"/>
              <a:t>safety and domain guidelines</a:t>
            </a:r>
            <a:r>
              <a:rPr lang="en-IN" dirty="0"/>
              <a:t>, ensuring that responses remain focused on fitness and wellness while avoiding medical diagnosis or unsafe recommendations.</a:t>
            </a:r>
          </a:p>
          <a:p>
            <a:r>
              <a:rPr lang="en-IN" dirty="0"/>
              <a:t>Overall, Agentic AI makes </a:t>
            </a:r>
            <a:r>
              <a:rPr lang="en-IN" b="1" dirty="0"/>
              <a:t>Fitness Agent proactive, personalized, adaptive, and goal-oriented</a:t>
            </a:r>
            <a:r>
              <a:rPr lang="en-IN" dirty="0"/>
              <a:t>, acting as a smart digital fitness companion that helps users build healthier habits and maintain consistency in their daily lifestyle.</a:t>
            </a:r>
          </a:p>
          <a:p>
            <a:endParaRPr lang="en-US" b="1" dirty="0"/>
          </a:p>
        </p:txBody>
      </p:sp>
    </p:spTree>
    <p:extLst>
      <p:ext uri="{BB962C8B-B14F-4D97-AF65-F5344CB8AC3E}">
        <p14:creationId xmlns:p14="http://schemas.microsoft.com/office/powerpoint/2010/main" val="400069696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55016524-E738-3D8C-3BB2-B0BE7C665318}"/>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D62F03A8-A8A8-CB93-006E-7173DC866F6F}"/>
              </a:ext>
            </a:extLst>
          </p:cNvPr>
          <p:cNvSpPr/>
          <p:nvPr/>
        </p:nvSpPr>
        <p:spPr>
          <a:xfrm>
            <a:off x="793192" y="341560"/>
            <a:ext cx="6444496" cy="704017"/>
          </a:xfrm>
          <a:prstGeom prst="rect">
            <a:avLst/>
          </a:prstGeom>
          <a:noFill/>
          <a:ln>
            <a:noFill/>
          </a:ln>
        </p:spPr>
        <p:txBody>
          <a:bodyPr spcFirstLastPara="1" wrap="square" lIns="0" tIns="0" rIns="0" bIns="0" anchor="t" anchorCtr="0">
            <a:noAutofit/>
          </a:bodyPr>
          <a:lstStyle/>
          <a:p>
            <a:pPr>
              <a:lnSpc>
                <a:spcPct val="157142"/>
              </a:lnSpc>
              <a:buClr>
                <a:srgbClr val="051D3A"/>
              </a:buClr>
              <a:buSzPts val="3500"/>
            </a:pPr>
            <a:r>
              <a:rPr lang="en-US" sz="2400" b="1">
                <a:sym typeface="Times New Roman"/>
              </a:rPr>
              <a:t>Token Usage </a:t>
            </a:r>
            <a:endParaRPr sz="2400" b="1">
              <a:sym typeface="Times New Roman"/>
            </a:endParaRPr>
          </a:p>
        </p:txBody>
      </p:sp>
      <p:sp>
        <p:nvSpPr>
          <p:cNvPr id="280" name="Google Shape;280;p18">
            <a:extLst>
              <a:ext uri="{FF2B5EF4-FFF2-40B4-BE49-F238E27FC236}">
                <a16:creationId xmlns:a16="http://schemas.microsoft.com/office/drawing/2014/main" id="{A4423EF4-BB52-2693-03DD-9F7D92D05218}"/>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FF042814-8077-DBD5-E8B6-E0D870CADB86}"/>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6A2761AF-8A54-98F2-52C2-794D9BA61C92}"/>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5" name="TextBox 4">
            <a:extLst>
              <a:ext uri="{FF2B5EF4-FFF2-40B4-BE49-F238E27FC236}">
                <a16:creationId xmlns:a16="http://schemas.microsoft.com/office/drawing/2014/main" id="{1BD576A0-BF64-32B6-1E59-49AA2C59C5CE}"/>
              </a:ext>
            </a:extLst>
          </p:cNvPr>
          <p:cNvSpPr txBox="1"/>
          <p:nvPr/>
        </p:nvSpPr>
        <p:spPr>
          <a:xfrm>
            <a:off x="897392" y="1042133"/>
            <a:ext cx="4371171"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t>11,761 token are used</a:t>
            </a:r>
          </a:p>
        </p:txBody>
      </p:sp>
      <p:sp>
        <p:nvSpPr>
          <p:cNvPr id="14" name="TextBox 13">
            <a:extLst>
              <a:ext uri="{FF2B5EF4-FFF2-40B4-BE49-F238E27FC236}">
                <a16:creationId xmlns:a16="http://schemas.microsoft.com/office/drawing/2014/main" id="{7B8E599E-5B1D-59CD-4F1D-CEF8D0CA327B}"/>
              </a:ext>
            </a:extLst>
          </p:cNvPr>
          <p:cNvSpPr txBox="1"/>
          <p:nvPr/>
        </p:nvSpPr>
        <p:spPr>
          <a:xfrm>
            <a:off x="1278639" y="1718067"/>
            <a:ext cx="2743199"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u="sng"/>
              <a:t>Before Prompt</a:t>
            </a:r>
          </a:p>
        </p:txBody>
      </p:sp>
      <p:sp>
        <p:nvSpPr>
          <p:cNvPr id="15" name="TextBox 14">
            <a:extLst>
              <a:ext uri="{FF2B5EF4-FFF2-40B4-BE49-F238E27FC236}">
                <a16:creationId xmlns:a16="http://schemas.microsoft.com/office/drawing/2014/main" id="{B22EA981-5113-2D05-C1A2-169306E1D47C}"/>
              </a:ext>
            </a:extLst>
          </p:cNvPr>
          <p:cNvSpPr txBox="1"/>
          <p:nvPr/>
        </p:nvSpPr>
        <p:spPr>
          <a:xfrm>
            <a:off x="7106828" y="1722919"/>
            <a:ext cx="2743199"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u="sng"/>
              <a:t>After the Prompt</a:t>
            </a:r>
          </a:p>
        </p:txBody>
      </p:sp>
      <p:pic>
        <p:nvPicPr>
          <p:cNvPr id="3" name="Picture 2">
            <a:extLst>
              <a:ext uri="{FF2B5EF4-FFF2-40B4-BE49-F238E27FC236}">
                <a16:creationId xmlns:a16="http://schemas.microsoft.com/office/drawing/2014/main" id="{2DF07FAF-B92A-C6C2-6143-6AFA531F9E16}"/>
              </a:ext>
            </a:extLst>
          </p:cNvPr>
          <p:cNvPicPr>
            <a:picLocks noChangeAspect="1"/>
          </p:cNvPicPr>
          <p:nvPr/>
        </p:nvPicPr>
        <p:blipFill>
          <a:blip r:embed="rId3"/>
          <a:stretch>
            <a:fillRect/>
          </a:stretch>
        </p:blipFill>
        <p:spPr>
          <a:xfrm>
            <a:off x="220714" y="2451181"/>
            <a:ext cx="5724525" cy="2728994"/>
          </a:xfrm>
          <a:prstGeom prst="rect">
            <a:avLst/>
          </a:prstGeom>
        </p:spPr>
      </p:pic>
      <p:pic>
        <p:nvPicPr>
          <p:cNvPr id="6" name="Picture 5">
            <a:extLst>
              <a:ext uri="{FF2B5EF4-FFF2-40B4-BE49-F238E27FC236}">
                <a16:creationId xmlns:a16="http://schemas.microsoft.com/office/drawing/2014/main" id="{8A7DC5E7-5893-C4A6-9FC6-C5BDF253F641}"/>
              </a:ext>
            </a:extLst>
          </p:cNvPr>
          <p:cNvPicPr>
            <a:picLocks noChangeAspect="1"/>
          </p:cNvPicPr>
          <p:nvPr/>
        </p:nvPicPr>
        <p:blipFill>
          <a:blip r:embed="rId4"/>
          <a:stretch>
            <a:fillRect/>
          </a:stretch>
        </p:blipFill>
        <p:spPr>
          <a:xfrm>
            <a:off x="6351998" y="2407681"/>
            <a:ext cx="5840002" cy="2815993"/>
          </a:xfrm>
          <a:prstGeom prst="rect">
            <a:avLst/>
          </a:prstGeom>
        </p:spPr>
      </p:pic>
    </p:spTree>
    <p:extLst>
      <p:ext uri="{BB962C8B-B14F-4D97-AF65-F5344CB8AC3E}">
        <p14:creationId xmlns:p14="http://schemas.microsoft.com/office/powerpoint/2010/main" val="89341700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1863F011-FD59-2782-3732-0E3263170F5E}"/>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78DA0257-5105-834D-150D-50732C7248D1}"/>
              </a:ext>
            </a:extLst>
          </p:cNvPr>
          <p:cNvSpPr/>
          <p:nvPr/>
        </p:nvSpPr>
        <p:spPr>
          <a:xfrm>
            <a:off x="409144" y="112960"/>
            <a:ext cx="6444496" cy="704017"/>
          </a:xfrm>
          <a:prstGeom prst="rect">
            <a:avLst/>
          </a:prstGeom>
          <a:noFill/>
          <a:ln>
            <a:noFill/>
          </a:ln>
        </p:spPr>
        <p:txBody>
          <a:bodyPr spcFirstLastPara="1" wrap="square" lIns="0" tIns="0" rIns="0" bIns="0" anchor="t" anchorCtr="0">
            <a:noAutofit/>
          </a:bodyPr>
          <a:lstStyle/>
          <a:p>
            <a:pPr>
              <a:lnSpc>
                <a:spcPct val="157142"/>
              </a:lnSpc>
              <a:buClr>
                <a:srgbClr val="051D3A"/>
              </a:buClr>
              <a:buSzPts val="3500"/>
            </a:pPr>
            <a:r>
              <a:rPr lang="en-US" sz="2400" b="1">
                <a:sym typeface="Times New Roman"/>
              </a:rPr>
              <a:t> Project Output Screenshot</a:t>
            </a:r>
            <a:endParaRPr sz="2400" b="1">
              <a:sym typeface="Times New Roman"/>
            </a:endParaRPr>
          </a:p>
        </p:txBody>
      </p:sp>
      <p:sp>
        <p:nvSpPr>
          <p:cNvPr id="280" name="Google Shape;280;p18">
            <a:extLst>
              <a:ext uri="{FF2B5EF4-FFF2-40B4-BE49-F238E27FC236}">
                <a16:creationId xmlns:a16="http://schemas.microsoft.com/office/drawing/2014/main" id="{827D77C8-2496-7668-B3B3-927FD4DB704D}"/>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46BDB3C0-B0E9-3C3A-A974-6BF43591F3FC}"/>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8CB1AEC3-7C17-0CCE-61FA-643373D6AE22}"/>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 name="TextBox 1">
            <a:extLst>
              <a:ext uri="{FF2B5EF4-FFF2-40B4-BE49-F238E27FC236}">
                <a16:creationId xmlns:a16="http://schemas.microsoft.com/office/drawing/2014/main" id="{CCA977A3-5FA0-8FF5-E1D1-86C9ED676512}"/>
              </a:ext>
            </a:extLst>
          </p:cNvPr>
          <p:cNvSpPr txBox="1"/>
          <p:nvPr/>
        </p:nvSpPr>
        <p:spPr>
          <a:xfrm>
            <a:off x="1335024" y="1865376"/>
            <a:ext cx="6833922" cy="707886"/>
          </a:xfrm>
          <a:prstGeom prst="rect">
            <a:avLst/>
          </a:prstGeom>
          <a:noFill/>
        </p:spPr>
        <p:txBody>
          <a:bodyPr wrap="none" rtlCol="0">
            <a:spAutoFit/>
          </a:bodyPr>
          <a:lstStyle/>
          <a:p>
            <a:r>
              <a:rPr lang="en-US" sz="2000" dirty="0">
                <a:solidFill>
                  <a:srgbClr val="FF0000"/>
                </a:solidFill>
              </a:rPr>
              <a:t>Please put IBM Bob output screenshots with 2-3 prompts. </a:t>
            </a:r>
          </a:p>
          <a:p>
            <a:r>
              <a:rPr lang="en-US" sz="2000" dirty="0">
                <a:solidFill>
                  <a:srgbClr val="FF0000"/>
                </a:solidFill>
              </a:rPr>
              <a:t>You can take 2-3 more slides for each screenshot</a:t>
            </a:r>
            <a:endParaRPr lang="en-IN" sz="2000" dirty="0">
              <a:solidFill>
                <a:srgbClr val="FF0000"/>
              </a:solidFill>
            </a:endParaRPr>
          </a:p>
        </p:txBody>
      </p:sp>
      <p:pic>
        <p:nvPicPr>
          <p:cNvPr id="5" name="Picture 4">
            <a:extLst>
              <a:ext uri="{FF2B5EF4-FFF2-40B4-BE49-F238E27FC236}">
                <a16:creationId xmlns:a16="http://schemas.microsoft.com/office/drawing/2014/main" id="{BC3A9857-765A-6579-1959-C61F34B0F3A5}"/>
              </a:ext>
            </a:extLst>
          </p:cNvPr>
          <p:cNvPicPr>
            <a:picLocks noChangeAspect="1"/>
          </p:cNvPicPr>
          <p:nvPr/>
        </p:nvPicPr>
        <p:blipFill>
          <a:blip r:embed="rId3"/>
          <a:stretch>
            <a:fillRect/>
          </a:stretch>
        </p:blipFill>
        <p:spPr>
          <a:xfrm>
            <a:off x="409144" y="787099"/>
            <a:ext cx="10349938" cy="5283801"/>
          </a:xfrm>
          <a:prstGeom prst="rect">
            <a:avLst/>
          </a:prstGeom>
        </p:spPr>
      </p:pic>
    </p:spTree>
    <p:extLst>
      <p:ext uri="{BB962C8B-B14F-4D97-AF65-F5344CB8AC3E}">
        <p14:creationId xmlns:p14="http://schemas.microsoft.com/office/powerpoint/2010/main" val="142996181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A1254DC3-8448-76A3-8631-9484D98C80EB}"/>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A5DD5E73-E4F8-AB1C-5A5A-D4EBAD6FD1B8}"/>
              </a:ext>
            </a:extLst>
          </p:cNvPr>
          <p:cNvSpPr/>
          <p:nvPr/>
        </p:nvSpPr>
        <p:spPr>
          <a:xfrm>
            <a:off x="409144" y="112960"/>
            <a:ext cx="6444496" cy="704017"/>
          </a:xfrm>
          <a:prstGeom prst="rect">
            <a:avLst/>
          </a:prstGeom>
          <a:noFill/>
          <a:ln>
            <a:noFill/>
          </a:ln>
        </p:spPr>
        <p:txBody>
          <a:bodyPr spcFirstLastPara="1" wrap="square" lIns="0" tIns="0" rIns="0" bIns="0" anchor="t" anchorCtr="0">
            <a:noAutofit/>
          </a:bodyPr>
          <a:lstStyle/>
          <a:p>
            <a:pPr>
              <a:lnSpc>
                <a:spcPct val="157142"/>
              </a:lnSpc>
              <a:buClr>
                <a:srgbClr val="051D3A"/>
              </a:buClr>
              <a:buSzPts val="3500"/>
            </a:pPr>
            <a:r>
              <a:rPr lang="en-US" sz="2400" b="1">
                <a:sym typeface="Times New Roman"/>
              </a:rPr>
              <a:t> Project Output Screenshot</a:t>
            </a:r>
            <a:endParaRPr sz="2400" b="1">
              <a:sym typeface="Times New Roman"/>
            </a:endParaRPr>
          </a:p>
        </p:txBody>
      </p:sp>
      <p:sp>
        <p:nvSpPr>
          <p:cNvPr id="280" name="Google Shape;280;p18">
            <a:extLst>
              <a:ext uri="{FF2B5EF4-FFF2-40B4-BE49-F238E27FC236}">
                <a16:creationId xmlns:a16="http://schemas.microsoft.com/office/drawing/2014/main" id="{E6E4A7DC-3E1D-42C4-3256-8A3109D5036E}"/>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1EC4E285-5561-2096-3270-252023A42F4B}"/>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FA8B1B6D-C213-0DFE-C434-B14C5F9945F5}"/>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 name="TextBox 1">
            <a:extLst>
              <a:ext uri="{FF2B5EF4-FFF2-40B4-BE49-F238E27FC236}">
                <a16:creationId xmlns:a16="http://schemas.microsoft.com/office/drawing/2014/main" id="{9692D13D-6B69-03D8-BA22-587B943A2572}"/>
              </a:ext>
            </a:extLst>
          </p:cNvPr>
          <p:cNvSpPr txBox="1"/>
          <p:nvPr/>
        </p:nvSpPr>
        <p:spPr>
          <a:xfrm>
            <a:off x="1335024" y="1865376"/>
            <a:ext cx="6833922" cy="707886"/>
          </a:xfrm>
          <a:prstGeom prst="rect">
            <a:avLst/>
          </a:prstGeom>
          <a:noFill/>
        </p:spPr>
        <p:txBody>
          <a:bodyPr wrap="none" rtlCol="0">
            <a:spAutoFit/>
          </a:bodyPr>
          <a:lstStyle/>
          <a:p>
            <a:r>
              <a:rPr lang="en-US" sz="2000">
                <a:solidFill>
                  <a:srgbClr val="FF0000"/>
                </a:solidFill>
              </a:rPr>
              <a:t>Please put IBM Bob output screenshots with 2-3 prompts. </a:t>
            </a:r>
          </a:p>
          <a:p>
            <a:r>
              <a:rPr lang="en-US" sz="2000">
                <a:solidFill>
                  <a:srgbClr val="FF0000"/>
                </a:solidFill>
              </a:rPr>
              <a:t>You can take 2-3 more slides for each screenshot</a:t>
            </a:r>
            <a:endParaRPr lang="en-IN" sz="2000">
              <a:solidFill>
                <a:srgbClr val="FF0000"/>
              </a:solidFill>
            </a:endParaRPr>
          </a:p>
        </p:txBody>
      </p:sp>
      <p:pic>
        <p:nvPicPr>
          <p:cNvPr id="4" name="Picture 3">
            <a:extLst>
              <a:ext uri="{FF2B5EF4-FFF2-40B4-BE49-F238E27FC236}">
                <a16:creationId xmlns:a16="http://schemas.microsoft.com/office/drawing/2014/main" id="{7B27A843-C910-787F-3FDC-01F22EE235E2}"/>
              </a:ext>
            </a:extLst>
          </p:cNvPr>
          <p:cNvPicPr>
            <a:picLocks noChangeAspect="1"/>
          </p:cNvPicPr>
          <p:nvPr/>
        </p:nvPicPr>
        <p:blipFill>
          <a:blip r:embed="rId3"/>
          <a:stretch>
            <a:fillRect/>
          </a:stretch>
        </p:blipFill>
        <p:spPr>
          <a:xfrm>
            <a:off x="409144" y="876843"/>
            <a:ext cx="10028973" cy="5104314"/>
          </a:xfrm>
          <a:prstGeom prst="rect">
            <a:avLst/>
          </a:prstGeom>
        </p:spPr>
      </p:pic>
    </p:spTree>
    <p:extLst>
      <p:ext uri="{BB962C8B-B14F-4D97-AF65-F5344CB8AC3E}">
        <p14:creationId xmlns:p14="http://schemas.microsoft.com/office/powerpoint/2010/main" val="358509230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E3C4AEBB-2963-4EEE-D8ED-E3B5ABCFF21F}"/>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67AD5A0A-54A3-BC96-26BB-9C49B61555EC}"/>
              </a:ext>
            </a:extLst>
          </p:cNvPr>
          <p:cNvSpPr/>
          <p:nvPr/>
        </p:nvSpPr>
        <p:spPr>
          <a:xfrm>
            <a:off x="409144" y="112960"/>
            <a:ext cx="6444496" cy="704017"/>
          </a:xfrm>
          <a:prstGeom prst="rect">
            <a:avLst/>
          </a:prstGeom>
          <a:noFill/>
          <a:ln>
            <a:noFill/>
          </a:ln>
        </p:spPr>
        <p:txBody>
          <a:bodyPr spcFirstLastPara="1" wrap="square" lIns="0" tIns="0" rIns="0" bIns="0" anchor="t" anchorCtr="0">
            <a:noAutofit/>
          </a:bodyPr>
          <a:lstStyle/>
          <a:p>
            <a:pPr>
              <a:lnSpc>
                <a:spcPct val="157142"/>
              </a:lnSpc>
              <a:buClr>
                <a:srgbClr val="051D3A"/>
              </a:buClr>
              <a:buSzPts val="3500"/>
            </a:pPr>
            <a:r>
              <a:rPr lang="en-US" sz="2400" b="1">
                <a:sym typeface="Times New Roman"/>
              </a:rPr>
              <a:t> Project Output Screenshot</a:t>
            </a:r>
            <a:endParaRPr sz="2400" b="1">
              <a:sym typeface="Times New Roman"/>
            </a:endParaRPr>
          </a:p>
        </p:txBody>
      </p:sp>
      <p:sp>
        <p:nvSpPr>
          <p:cNvPr id="280" name="Google Shape;280;p18">
            <a:extLst>
              <a:ext uri="{FF2B5EF4-FFF2-40B4-BE49-F238E27FC236}">
                <a16:creationId xmlns:a16="http://schemas.microsoft.com/office/drawing/2014/main" id="{A12490E1-7210-03FA-8406-7044E50A98B3}"/>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D0575C07-AA6B-0149-734C-B101314C9343}"/>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77B9C142-F05E-0FCB-045D-6B4B10F795C3}"/>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 name="TextBox 1">
            <a:extLst>
              <a:ext uri="{FF2B5EF4-FFF2-40B4-BE49-F238E27FC236}">
                <a16:creationId xmlns:a16="http://schemas.microsoft.com/office/drawing/2014/main" id="{EB55001C-8880-8B09-8704-29D3F62E7A03}"/>
              </a:ext>
            </a:extLst>
          </p:cNvPr>
          <p:cNvSpPr txBox="1"/>
          <p:nvPr/>
        </p:nvSpPr>
        <p:spPr>
          <a:xfrm>
            <a:off x="1335024" y="1865376"/>
            <a:ext cx="6833922" cy="707886"/>
          </a:xfrm>
          <a:prstGeom prst="rect">
            <a:avLst/>
          </a:prstGeom>
          <a:noFill/>
        </p:spPr>
        <p:txBody>
          <a:bodyPr wrap="none" rtlCol="0">
            <a:spAutoFit/>
          </a:bodyPr>
          <a:lstStyle/>
          <a:p>
            <a:r>
              <a:rPr lang="en-US" sz="2000">
                <a:solidFill>
                  <a:srgbClr val="FF0000"/>
                </a:solidFill>
              </a:rPr>
              <a:t>Please put IBM Bob output screenshots with 2-3 prompts. </a:t>
            </a:r>
          </a:p>
          <a:p>
            <a:r>
              <a:rPr lang="en-US" sz="2000">
                <a:solidFill>
                  <a:srgbClr val="FF0000"/>
                </a:solidFill>
              </a:rPr>
              <a:t>You can take 2-3 more slides for each screenshot</a:t>
            </a:r>
            <a:endParaRPr lang="en-IN" sz="2000">
              <a:solidFill>
                <a:srgbClr val="FF0000"/>
              </a:solidFill>
            </a:endParaRPr>
          </a:p>
        </p:txBody>
      </p:sp>
      <p:pic>
        <p:nvPicPr>
          <p:cNvPr id="5" name="Picture 4">
            <a:extLst>
              <a:ext uri="{FF2B5EF4-FFF2-40B4-BE49-F238E27FC236}">
                <a16:creationId xmlns:a16="http://schemas.microsoft.com/office/drawing/2014/main" id="{EFF0B6DD-DE76-53ED-C543-4295A6393A69}"/>
              </a:ext>
            </a:extLst>
          </p:cNvPr>
          <p:cNvPicPr>
            <a:picLocks noChangeAspect="1"/>
          </p:cNvPicPr>
          <p:nvPr/>
        </p:nvPicPr>
        <p:blipFill>
          <a:blip r:embed="rId3"/>
          <a:stretch>
            <a:fillRect/>
          </a:stretch>
        </p:blipFill>
        <p:spPr>
          <a:xfrm>
            <a:off x="350494" y="816977"/>
            <a:ext cx="11432362" cy="5471294"/>
          </a:xfrm>
          <a:prstGeom prst="rect">
            <a:avLst/>
          </a:prstGeom>
        </p:spPr>
      </p:pic>
    </p:spTree>
    <p:extLst>
      <p:ext uri="{BB962C8B-B14F-4D97-AF65-F5344CB8AC3E}">
        <p14:creationId xmlns:p14="http://schemas.microsoft.com/office/powerpoint/2010/main" val="260190718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EEDEC80F-FA4E-F3FF-DE90-87B861D0BD13}"/>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FA184BA-BCF2-3D7B-30D0-0F3CF30C161B}"/>
              </a:ext>
            </a:extLst>
          </p:cNvPr>
          <p:cNvSpPr txBox="1"/>
          <p:nvPr/>
        </p:nvSpPr>
        <p:spPr>
          <a:xfrm>
            <a:off x="777240" y="475107"/>
            <a:ext cx="7123176" cy="461665"/>
          </a:xfrm>
          <a:prstGeom prst="rect">
            <a:avLst/>
          </a:prstGeom>
          <a:noFill/>
        </p:spPr>
        <p:txBody>
          <a:bodyPr wrap="square" rtlCol="0">
            <a:spAutoFit/>
          </a:bodyPr>
          <a:lstStyle/>
          <a:p>
            <a:r>
              <a:rPr lang="en-US" sz="2400" b="1"/>
              <a:t>Novelty and Uniqueness</a:t>
            </a:r>
            <a:endParaRPr lang="en-IN" sz="2400" b="1"/>
          </a:p>
        </p:txBody>
      </p:sp>
      <p:sp>
        <p:nvSpPr>
          <p:cNvPr id="3" name="TextBox 2">
            <a:extLst>
              <a:ext uri="{FF2B5EF4-FFF2-40B4-BE49-F238E27FC236}">
                <a16:creationId xmlns:a16="http://schemas.microsoft.com/office/drawing/2014/main" id="{ED65F54F-855A-0DB6-09A6-3212C5F7405B}"/>
              </a:ext>
            </a:extLst>
          </p:cNvPr>
          <p:cNvSpPr txBox="1"/>
          <p:nvPr/>
        </p:nvSpPr>
        <p:spPr>
          <a:xfrm>
            <a:off x="777240" y="1119914"/>
            <a:ext cx="10290810" cy="5262979"/>
          </a:xfrm>
          <a:prstGeom prst="rect">
            <a:avLst/>
          </a:prstGeom>
          <a:noFill/>
        </p:spPr>
        <p:txBody>
          <a:bodyPr wrap="square" rtlCol="0">
            <a:spAutoFit/>
          </a:bodyPr>
          <a:lstStyle/>
          <a:p>
            <a:r>
              <a:rPr lang="en-IN" sz="1600" dirty="0"/>
              <a:t>The proposed </a:t>
            </a:r>
            <a:r>
              <a:rPr lang="en-IN" sz="1600" b="1" dirty="0"/>
              <a:t>Fitness Buddy</a:t>
            </a:r>
            <a:r>
              <a:rPr lang="en-IN" sz="1600" dirty="0"/>
              <a:t> stands out by combining </a:t>
            </a:r>
            <a:r>
              <a:rPr lang="en-IN" sz="1600" b="1" dirty="0"/>
              <a:t>Agentic AI, personalization, and conversational guidance</a:t>
            </a:r>
            <a:r>
              <a:rPr lang="en-IN" sz="1600" dirty="0"/>
              <a:t> into a single intelligent fitness and wellness system.</a:t>
            </a:r>
          </a:p>
          <a:p>
            <a:r>
              <a:rPr lang="en-IN" sz="1600" b="1" dirty="0"/>
              <a:t>Agentic AI Intelligence</a:t>
            </a:r>
            <a:r>
              <a:rPr lang="en-IN" sz="1600" dirty="0"/>
              <a:t> – Uses IBM </a:t>
            </a:r>
            <a:r>
              <a:rPr lang="en-IN" sz="1600" dirty="0" err="1"/>
              <a:t>watsonx</a:t>
            </a:r>
            <a:r>
              <a:rPr lang="en-IN" sz="1600" dirty="0"/>
              <a:t> Orchestrate and IBM Granite to understand user needs and provide goal-oriented fitness and wellness guidance.</a:t>
            </a:r>
          </a:p>
          <a:p>
            <a:r>
              <a:rPr lang="en-IN" sz="1600" b="1" dirty="0"/>
              <a:t>Personalized Workouts</a:t>
            </a:r>
            <a:r>
              <a:rPr lang="en-IN" sz="1600" dirty="0"/>
              <a:t> – Recommends home workouts based on fitness level, goals, available time, equipment, and user preferences.</a:t>
            </a:r>
          </a:p>
          <a:p>
            <a:r>
              <a:rPr lang="en-IN" sz="1600" b="1" dirty="0"/>
              <a:t>Nutrition &amp; Healthy Meal Guidance</a:t>
            </a:r>
            <a:r>
              <a:rPr lang="en-IN" sz="1600" dirty="0"/>
              <a:t> – Provides basic nutrition advice and simple, nutritious meal suggestions according to dietary preferences and lifestyle.</a:t>
            </a:r>
          </a:p>
          <a:p>
            <a:r>
              <a:rPr lang="en-IN" sz="1600" b="1" dirty="0"/>
              <a:t>Motivation &amp; Habit Building</a:t>
            </a:r>
            <a:r>
              <a:rPr lang="en-IN" sz="1600" dirty="0"/>
              <a:t> – Encourages users with daily fitness inspiration and practical strategies to develop consistent healthy habits.</a:t>
            </a:r>
          </a:p>
          <a:p>
            <a:r>
              <a:rPr lang="en-IN" sz="1600" b="1" dirty="0"/>
              <a:t>Context-Aware Recommendations</a:t>
            </a:r>
            <a:r>
              <a:rPr lang="en-IN" sz="1600" dirty="0"/>
              <a:t> – Adapts workout, nutrition, and lifestyle suggestions based on information provided by the user.</a:t>
            </a:r>
          </a:p>
          <a:p>
            <a:r>
              <a:rPr lang="en-IN" sz="1600" b="1" dirty="0"/>
              <a:t>Structured Responses</a:t>
            </a:r>
            <a:r>
              <a:rPr lang="en-IN" sz="1600" dirty="0"/>
              <a:t> – Presents recommendations in clear sections such as goals, workout steps, duration, meal ideas, tips, and safety guidance.</a:t>
            </a:r>
          </a:p>
          <a:p>
            <a:r>
              <a:rPr lang="en-IN" sz="1600" b="1" dirty="0"/>
              <a:t>Domain &amp; Safety Focused</a:t>
            </a:r>
            <a:r>
              <a:rPr lang="en-IN" sz="1600" dirty="0"/>
              <a:t> – Keeps responses focused on fitness, nutrition, healthy lifestyle, motivation, and habit-building while avoiding unrelated or unsafe advice.</a:t>
            </a:r>
          </a:p>
          <a:p>
            <a:r>
              <a:rPr lang="en-IN" sz="1600" b="1" dirty="0"/>
              <a:t>Accessible &amp; On-Demand</a:t>
            </a:r>
            <a:r>
              <a:rPr lang="en-IN" sz="1600" dirty="0"/>
              <a:t> – Provides friendly fitness guidance through conversation without requiring expensive personal training or rigid schedules.</a:t>
            </a:r>
          </a:p>
          <a:p>
            <a:r>
              <a:rPr lang="en-IN" sz="1600" dirty="0"/>
              <a:t>Overall, </a:t>
            </a:r>
            <a:r>
              <a:rPr lang="en-IN" sz="1600" b="1" dirty="0"/>
              <a:t>Fitness Buddy</a:t>
            </a:r>
            <a:r>
              <a:rPr lang="en-IN" sz="1600" dirty="0"/>
              <a:t> transforms a traditional chatbot into a </a:t>
            </a:r>
            <a:r>
              <a:rPr lang="en-IN" sz="1600" b="1" dirty="0"/>
              <a:t>smart, personalized, adaptive, and goal-driven digital fitness companion</a:t>
            </a:r>
            <a:r>
              <a:rPr lang="en-IN" sz="1600" dirty="0"/>
              <a:t> that helps users exercise regularly, make healthier food choices, stay motivated, and build sustainable habits</a:t>
            </a:r>
            <a:r>
              <a:rPr lang="en-IN" dirty="0"/>
              <a:t>.</a:t>
            </a:r>
          </a:p>
        </p:txBody>
      </p:sp>
    </p:spTree>
    <p:extLst>
      <p:ext uri="{BB962C8B-B14F-4D97-AF65-F5344CB8AC3E}">
        <p14:creationId xmlns:p14="http://schemas.microsoft.com/office/powerpoint/2010/main" val="232528227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7BB3C0CA-2F24-30DF-1D65-4440B864F08E}"/>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187EEB9C-2E84-113A-3CE6-1507BF5B039F}"/>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a:sym typeface="Times New Roman"/>
              </a:rPr>
              <a:t>Git Hub Link</a:t>
            </a:r>
            <a:endParaRPr sz="2400" b="1">
              <a:sym typeface="Times New Roman"/>
            </a:endParaRPr>
          </a:p>
        </p:txBody>
      </p:sp>
      <p:sp>
        <p:nvSpPr>
          <p:cNvPr id="279" name="Google Shape;279;p18">
            <a:extLst>
              <a:ext uri="{FF2B5EF4-FFF2-40B4-BE49-F238E27FC236}">
                <a16:creationId xmlns:a16="http://schemas.microsoft.com/office/drawing/2014/main" id="{3711AF54-94A6-B837-31EF-9A8C4ECB9AF6}"/>
              </a:ext>
            </a:extLst>
          </p:cNvPr>
          <p:cNvSpPr/>
          <p:nvPr/>
        </p:nvSpPr>
        <p:spPr>
          <a:xfrm>
            <a:off x="1218724" y="1153712"/>
            <a:ext cx="9214580" cy="3808813"/>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 Please create public </a:t>
            </a:r>
            <a:r>
              <a:rPr lang="en-US" sz="1850" b="0" i="0" u="none" strike="noStrike" cap="none" dirty="0" err="1">
                <a:solidFill>
                  <a:srgbClr val="2B3541"/>
                </a:solidFill>
                <a:latin typeface="Times New Roman"/>
                <a:ea typeface="Times New Roman"/>
                <a:cs typeface="Times New Roman"/>
                <a:sym typeface="Times New Roman"/>
              </a:rPr>
              <a:t>github</a:t>
            </a:r>
            <a:r>
              <a:rPr lang="en-US" sz="1850" b="0" i="0" u="none" strike="noStrike" cap="none" dirty="0">
                <a:solidFill>
                  <a:srgbClr val="2B3541"/>
                </a:solidFill>
                <a:latin typeface="Times New Roman"/>
                <a:ea typeface="Times New Roman"/>
                <a:cs typeface="Times New Roman"/>
                <a:sym typeface="Times New Roman"/>
              </a:rPr>
              <a:t> repository (Enable Add README  button while creating repository) with format – </a:t>
            </a:r>
          </a:p>
          <a:p>
            <a:pPr lvl="0">
              <a:lnSpc>
                <a:spcPct val="162162"/>
              </a:lnSpc>
              <a:buClr>
                <a:srgbClr val="2B3541"/>
              </a:buClr>
              <a:buSzPts val="1850"/>
            </a:pPr>
            <a:r>
              <a:rPr lang="en-US" sz="1850" dirty="0">
                <a:solidFill>
                  <a:srgbClr val="2B3541"/>
                </a:solidFill>
                <a:latin typeface="Times New Roman"/>
                <a:ea typeface="Times New Roman"/>
                <a:cs typeface="Times New Roman"/>
                <a:sym typeface="Times New Roman"/>
              </a:rPr>
              <a:t>Please test and Paste the working  </a:t>
            </a:r>
            <a:r>
              <a:rPr lang="en-US" sz="1850" dirty="0" err="1">
                <a:solidFill>
                  <a:srgbClr val="2B3541"/>
                </a:solidFill>
                <a:latin typeface="Times New Roman"/>
                <a:ea typeface="Times New Roman"/>
                <a:cs typeface="Times New Roman"/>
                <a:sym typeface="Times New Roman"/>
              </a:rPr>
              <a:t>Github</a:t>
            </a:r>
            <a:r>
              <a:rPr lang="en-US" sz="1850" dirty="0">
                <a:solidFill>
                  <a:srgbClr val="2B3541"/>
                </a:solidFill>
                <a:latin typeface="Times New Roman"/>
                <a:ea typeface="Times New Roman"/>
                <a:cs typeface="Times New Roman"/>
                <a:sym typeface="Times New Roman"/>
              </a:rPr>
              <a:t> URL –https://github.com/Shaniverma8115/fitness-buddy-ai.git</a:t>
            </a:r>
          </a:p>
          <a:p>
            <a:pPr lvl="0">
              <a:lnSpc>
                <a:spcPct val="162162"/>
              </a:lnSpc>
              <a:buClr>
                <a:srgbClr val="2B3541"/>
              </a:buClr>
              <a:buSzPts val="1850"/>
            </a:pPr>
            <a:r>
              <a:rPr lang="en-US" sz="1850" b="1" dirty="0">
                <a:solidFill>
                  <a:srgbClr val="2B3541"/>
                </a:solidFill>
                <a:latin typeface="Times New Roman"/>
                <a:ea typeface="Times New Roman"/>
                <a:cs typeface="Times New Roman"/>
                <a:sym typeface="Times New Roman"/>
              </a:rPr>
              <a:t>Make sure you have Uploaded following three files into your </a:t>
            </a:r>
            <a:r>
              <a:rPr lang="en-US" sz="1850" b="1" dirty="0" err="1">
                <a:solidFill>
                  <a:srgbClr val="2B3541"/>
                </a:solidFill>
                <a:latin typeface="Times New Roman"/>
                <a:ea typeface="Times New Roman"/>
                <a:cs typeface="Times New Roman"/>
                <a:sym typeface="Times New Roman"/>
              </a:rPr>
              <a:t>github</a:t>
            </a:r>
            <a:r>
              <a:rPr lang="en-US" sz="1850" b="1" dirty="0">
                <a:solidFill>
                  <a:srgbClr val="2B3541"/>
                </a:solidFill>
                <a:latin typeface="Times New Roman"/>
                <a:ea typeface="Times New Roman"/>
                <a:cs typeface="Times New Roman"/>
                <a:sym typeface="Times New Roman"/>
              </a:rPr>
              <a:t> repository  </a:t>
            </a:r>
            <a:br>
              <a:rPr lang="en-US" sz="1850" dirty="0">
                <a:solidFill>
                  <a:srgbClr val="2B3541"/>
                </a:solidFill>
                <a:latin typeface="Times New Roman"/>
                <a:ea typeface="Times New Roman"/>
                <a:cs typeface="Times New Roman"/>
                <a:sym typeface="Times New Roman"/>
              </a:rPr>
            </a:br>
            <a:r>
              <a:rPr lang="en-US" sz="1850" dirty="0">
                <a:solidFill>
                  <a:srgbClr val="2B3541"/>
                </a:solidFill>
                <a:latin typeface="Times New Roman"/>
                <a:ea typeface="Times New Roman"/>
                <a:cs typeface="Times New Roman"/>
                <a:sym typeface="Times New Roman"/>
              </a:rPr>
              <a:t>1) All Agent relevant files of IBM Cloud , 2) yourproblemstatement.pdf file  3) your projectpresntation.pptx file 4)any other files </a:t>
            </a:r>
          </a:p>
          <a:p>
            <a:pPr marL="0" marR="0" lvl="0" indent="0" algn="l" rtl="0">
              <a:lnSpc>
                <a:spcPct val="162162"/>
              </a:lnSpc>
              <a:spcBef>
                <a:spcPts val="0"/>
              </a:spcBef>
              <a:spcAft>
                <a:spcPts val="0"/>
              </a:spcAft>
              <a:buClr>
                <a:srgbClr val="2B3541"/>
              </a:buClr>
              <a:buSzPts val="1850"/>
              <a:buFont typeface="Times New Roman"/>
              <a:buNone/>
            </a:pPr>
            <a:endParaRPr sz="1850" b="0" i="0" u="none" strike="noStrike" cap="none" dirty="0">
              <a:solidFill>
                <a:srgbClr val="000000"/>
              </a:solidFill>
              <a:latin typeface="Times New Roman"/>
              <a:ea typeface="Times New Roman"/>
              <a:cs typeface="Times New Roman"/>
              <a:sym typeface="Times New Roman"/>
            </a:endParaRPr>
          </a:p>
        </p:txBody>
      </p:sp>
      <p:sp>
        <p:nvSpPr>
          <p:cNvPr id="280" name="Google Shape;280;p18">
            <a:extLst>
              <a:ext uri="{FF2B5EF4-FFF2-40B4-BE49-F238E27FC236}">
                <a16:creationId xmlns:a16="http://schemas.microsoft.com/office/drawing/2014/main" id="{E228982D-BF81-530A-CBA1-E897A3CA8EF7}"/>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7BC356B8-92F8-3187-D065-667AACF68E72}"/>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1558A011-60D6-B010-6117-1B9F7C786B2B}"/>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404041227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6FA0F82B-7EE5-EAB0-F470-130BDAC8254B}"/>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0668C6FD-577A-7288-5642-1AFC22BD04F2}"/>
              </a:ext>
            </a:extLst>
          </p:cNvPr>
          <p:cNvSpPr/>
          <p:nvPr/>
        </p:nvSpPr>
        <p:spPr>
          <a:xfrm>
            <a:off x="885825" y="420729"/>
            <a:ext cx="6777395"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dirty="0">
                <a:sym typeface="Times New Roman"/>
              </a:rPr>
              <a:t>Future Scope </a:t>
            </a:r>
            <a:endParaRPr sz="2400" b="1" dirty="0">
              <a:sym typeface="Times New Roman"/>
            </a:endParaRPr>
          </a:p>
        </p:txBody>
      </p:sp>
      <p:sp>
        <p:nvSpPr>
          <p:cNvPr id="279" name="Google Shape;279;p18">
            <a:extLst>
              <a:ext uri="{FF2B5EF4-FFF2-40B4-BE49-F238E27FC236}">
                <a16:creationId xmlns:a16="http://schemas.microsoft.com/office/drawing/2014/main" id="{EAFA16CB-0A72-5AC5-69A0-ABF4A752B43F}"/>
              </a:ext>
            </a:extLst>
          </p:cNvPr>
          <p:cNvSpPr/>
          <p:nvPr/>
        </p:nvSpPr>
        <p:spPr>
          <a:xfrm>
            <a:off x="885825" y="1221715"/>
            <a:ext cx="9547479" cy="5093360"/>
          </a:xfrm>
          <a:prstGeom prst="rect">
            <a:avLst/>
          </a:prstGeom>
          <a:noFill/>
          <a:ln>
            <a:noFill/>
          </a:ln>
        </p:spPr>
        <p:txBody>
          <a:bodyPr spcFirstLastPara="1" wrap="square" lIns="0" tIns="0" rIns="0" bIns="0" anchor="t" anchorCtr="0">
            <a:noAutofit/>
          </a:bodyPr>
          <a:lstStyle/>
          <a:p>
            <a:r>
              <a:rPr lang="en-IN" sz="1600" b="1" dirty="0"/>
              <a:t>1. Integration with Wearables &amp; Fitness Devices</a:t>
            </a:r>
            <a:r>
              <a:rPr lang="en-IN" sz="1600" dirty="0"/>
              <a:t> –</a:t>
            </a:r>
            <a:br>
              <a:rPr lang="en-IN" sz="1600" dirty="0"/>
            </a:br>
            <a:r>
              <a:rPr lang="en-IN" sz="1600" dirty="0"/>
              <a:t>The system can be integrated with smartwatches and fitness trackers to collect real-time data such as steps, heart rate, calories burned, workout duration, and sleep patterns. This data can help Fitness Buddy provide more personalized workout recommendations, activity goals, and lifestyle suggestions based on the user's actual fitness activity.</a:t>
            </a:r>
          </a:p>
          <a:p>
            <a:pPr marL="342900" indent="-342900">
              <a:buAutoNum type="arabicPeriod"/>
            </a:pPr>
            <a:endParaRPr lang="en-IN" sz="1600" dirty="0"/>
          </a:p>
          <a:p>
            <a:r>
              <a:rPr lang="en-IN" sz="1600" b="1" dirty="0"/>
              <a:t>2. AI-Powered Voice Assistant &amp; Multilingual Support</a:t>
            </a:r>
            <a:r>
              <a:rPr lang="en-IN" sz="1600" dirty="0"/>
              <a:t> –</a:t>
            </a:r>
            <a:br>
              <a:rPr lang="en-IN" sz="1600" dirty="0"/>
            </a:br>
            <a:r>
              <a:rPr lang="en-IN" sz="1600" dirty="0"/>
              <a:t>Adding voice interaction and support for multiple languages can make Fitness Buddy more accessible and user-friendly. Users could interact naturally through voice in their preferred language, making fitness guidance easier to access for people from diverse backgrounds.</a:t>
            </a:r>
          </a:p>
          <a:p>
            <a:endParaRPr lang="en-IN" sz="1600" dirty="0"/>
          </a:p>
          <a:p>
            <a:r>
              <a:rPr lang="en-IN" sz="1600" b="1" dirty="0"/>
              <a:t>3. Personalized Progress Tracking</a:t>
            </a:r>
            <a:r>
              <a:rPr lang="en-IN" sz="1600" dirty="0"/>
              <a:t> –</a:t>
            </a:r>
            <a:br>
              <a:rPr lang="en-IN" sz="1600" dirty="0"/>
            </a:br>
            <a:r>
              <a:rPr lang="en-IN" sz="1600" dirty="0"/>
              <a:t>Future versions can track workout history, fitness goals, completed activities, and habit consistency. The agent can </a:t>
            </a:r>
            <a:r>
              <a:rPr lang="en-IN" sz="1600" dirty="0" err="1"/>
              <a:t>analyze</a:t>
            </a:r>
            <a:r>
              <a:rPr lang="en-IN" sz="1600" dirty="0"/>
              <a:t> progress and provide personalized feedback, reminders, and recommendations to help users stay motivated.</a:t>
            </a:r>
          </a:p>
          <a:p>
            <a:endParaRPr lang="en-IN" sz="1600" dirty="0"/>
          </a:p>
          <a:p>
            <a:r>
              <a:rPr lang="en-IN" sz="1600" b="1" dirty="0"/>
              <a:t>4. Advanced AI Fitness Planning</a:t>
            </a:r>
            <a:r>
              <a:rPr lang="en-IN" sz="1600" dirty="0"/>
              <a:t> –</a:t>
            </a:r>
            <a:br>
              <a:rPr lang="en-IN" sz="1600" dirty="0"/>
            </a:br>
            <a:r>
              <a:rPr lang="en-IN" sz="1600" dirty="0"/>
              <a:t>Fitness Buddy can be enhanced to generate long-term workout and lifestyle plans that automatically adapt to changes in the user's goals, schedule, fitness level, and consistency.</a:t>
            </a:r>
          </a:p>
        </p:txBody>
      </p:sp>
      <p:sp>
        <p:nvSpPr>
          <p:cNvPr id="280" name="Google Shape;280;p18">
            <a:extLst>
              <a:ext uri="{FF2B5EF4-FFF2-40B4-BE49-F238E27FC236}">
                <a16:creationId xmlns:a16="http://schemas.microsoft.com/office/drawing/2014/main" id="{B888011B-E4AC-77DB-4A60-BE2C891C49F5}"/>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91F05971-9256-10B5-6575-4E7C679C6DAA}"/>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F1C3EBC2-438F-C150-9ABF-F14321C2CC5C}"/>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74002846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3F1C7BCA-5DD7-F4D3-A937-D1C56976DA01}"/>
              </a:ext>
            </a:extLst>
          </p:cNvPr>
          <p:cNvSpPr txBox="1"/>
          <p:nvPr/>
        </p:nvSpPr>
        <p:spPr>
          <a:xfrm>
            <a:off x="327949" y="207380"/>
            <a:ext cx="6096000"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a:t>Certificates Earned:</a:t>
            </a:r>
          </a:p>
          <a:p>
            <a:pPr algn="ctr"/>
            <a:endParaRPr lang="en-US"/>
          </a:p>
        </p:txBody>
      </p:sp>
      <p:sp>
        <p:nvSpPr>
          <p:cNvPr id="3" name="TextBox 2">
            <a:extLst>
              <a:ext uri="{FF2B5EF4-FFF2-40B4-BE49-F238E27FC236}">
                <a16:creationId xmlns:a16="http://schemas.microsoft.com/office/drawing/2014/main" id="{4837D5EE-379B-FDC5-0854-8AC81D31FADF}"/>
              </a:ext>
            </a:extLst>
          </p:cNvPr>
          <p:cNvSpPr txBox="1"/>
          <p:nvPr/>
        </p:nvSpPr>
        <p:spPr>
          <a:xfrm>
            <a:off x="552048" y="690061"/>
            <a:ext cx="11453139"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dirty="0"/>
              <a:t>Please  add your </a:t>
            </a:r>
            <a:r>
              <a:rPr lang="en-US" sz="2400" b="1" dirty="0" err="1"/>
              <a:t>credly</a:t>
            </a:r>
            <a:r>
              <a:rPr lang="en-US" sz="2400" b="1" dirty="0"/>
              <a:t> certificate(Getting Started with Artificial Intelligence)  </a:t>
            </a:r>
          </a:p>
        </p:txBody>
      </p:sp>
      <p:pic>
        <p:nvPicPr>
          <p:cNvPr id="4" name="Picture 3">
            <a:extLst>
              <a:ext uri="{FF2B5EF4-FFF2-40B4-BE49-F238E27FC236}">
                <a16:creationId xmlns:a16="http://schemas.microsoft.com/office/drawing/2014/main" id="{4EFE9072-41EE-43EC-F1AB-34D1B3A0A538}"/>
              </a:ext>
            </a:extLst>
          </p:cNvPr>
          <p:cNvPicPr>
            <a:picLocks noChangeAspect="1"/>
          </p:cNvPicPr>
          <p:nvPr/>
        </p:nvPicPr>
        <p:blipFill>
          <a:blip r:embed="rId2"/>
          <a:stretch>
            <a:fillRect/>
          </a:stretch>
        </p:blipFill>
        <p:spPr>
          <a:xfrm>
            <a:off x="706363" y="1151726"/>
            <a:ext cx="8875059" cy="5706274"/>
          </a:xfrm>
          <a:prstGeom prst="rect">
            <a:avLst/>
          </a:prstGeom>
        </p:spPr>
      </p:pic>
    </p:spTree>
    <p:extLst>
      <p:ext uri="{BB962C8B-B14F-4D97-AF65-F5344CB8AC3E}">
        <p14:creationId xmlns:p14="http://schemas.microsoft.com/office/powerpoint/2010/main" val="283348271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CA8544A9-CF92-3FAF-D3EE-31DF90F7A64D}"/>
              </a:ext>
            </a:extLst>
          </p:cNvPr>
          <p:cNvSpPr txBox="1"/>
          <p:nvPr/>
        </p:nvSpPr>
        <p:spPr>
          <a:xfrm>
            <a:off x="176696" y="226391"/>
            <a:ext cx="6096000"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i="0" u="none" strike="noStrike" baseline="0">
                <a:solidFill>
                  <a:srgbClr val="000000"/>
                </a:solidFill>
                <a:latin typeface="Arial"/>
              </a:rPr>
              <a:t>Certificates Earned:</a:t>
            </a:r>
            <a:r>
              <a:rPr sz="2400" b="0" i="0">
                <a:solidFill>
                  <a:srgbClr val="000000"/>
                </a:solidFill>
                <a:latin typeface="Arial"/>
                <a:ea typeface="Arial"/>
                <a:cs typeface="Arial"/>
              </a:rPr>
              <a:t>​</a:t>
            </a:r>
            <a:endParaRPr lang="en-US"/>
          </a:p>
          <a:p>
            <a:pPr algn="ctr"/>
            <a:endParaRPr lang="en-US"/>
          </a:p>
        </p:txBody>
      </p:sp>
      <p:sp>
        <p:nvSpPr>
          <p:cNvPr id="6" name="TextBox 5">
            <a:extLst>
              <a:ext uri="{FF2B5EF4-FFF2-40B4-BE49-F238E27FC236}">
                <a16:creationId xmlns:a16="http://schemas.microsoft.com/office/drawing/2014/main" id="{C0D36B1A-26C2-CD55-1032-4CB5E4EDF305}"/>
              </a:ext>
            </a:extLst>
          </p:cNvPr>
          <p:cNvSpPr txBox="1"/>
          <p:nvPr/>
        </p:nvSpPr>
        <p:spPr>
          <a:xfrm>
            <a:off x="496843" y="800470"/>
            <a:ext cx="5437681"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b="1"/>
              <a:t>Add your IBM BOB Certificate</a:t>
            </a:r>
          </a:p>
        </p:txBody>
      </p:sp>
      <p:pic>
        <p:nvPicPr>
          <p:cNvPr id="3" name="Picture 2">
            <a:extLst>
              <a:ext uri="{FF2B5EF4-FFF2-40B4-BE49-F238E27FC236}">
                <a16:creationId xmlns:a16="http://schemas.microsoft.com/office/drawing/2014/main" id="{A89BAAD1-F3C3-1939-CCB6-1A899EA921DE}"/>
              </a:ext>
            </a:extLst>
          </p:cNvPr>
          <p:cNvPicPr>
            <a:picLocks noChangeAspect="1"/>
          </p:cNvPicPr>
          <p:nvPr/>
        </p:nvPicPr>
        <p:blipFill>
          <a:blip r:embed="rId2"/>
          <a:stretch>
            <a:fillRect/>
          </a:stretch>
        </p:blipFill>
        <p:spPr>
          <a:xfrm rot="5400000">
            <a:off x="2845752" y="-1061496"/>
            <a:ext cx="5299364" cy="9823516"/>
          </a:xfrm>
          <a:prstGeom prst="rect">
            <a:avLst/>
          </a:prstGeom>
        </p:spPr>
      </p:pic>
    </p:spTree>
    <p:extLst>
      <p:ext uri="{BB962C8B-B14F-4D97-AF65-F5344CB8AC3E}">
        <p14:creationId xmlns:p14="http://schemas.microsoft.com/office/powerpoint/2010/main" val="417517770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306"/>
        <p:cNvGrpSpPr/>
        <p:nvPr/>
      </p:nvGrpSpPr>
      <p:grpSpPr>
        <a:xfrm>
          <a:off x="0" y="0"/>
          <a:ext cx="0" cy="0"/>
          <a:chOff x="0" y="0"/>
          <a:chExt cx="0" cy="0"/>
        </a:xfrm>
      </p:grpSpPr>
      <p:pic>
        <p:nvPicPr>
          <p:cNvPr id="310" name="Google Shape;310;p20"/>
          <p:cNvPicPr preferRelativeResize="0"/>
          <p:nvPr/>
        </p:nvPicPr>
        <p:blipFill rotWithShape="1">
          <a:blip r:embed="rId3">
            <a:alphaModFix/>
          </a:blip>
          <a:srcRect/>
          <a:stretch/>
        </p:blipFill>
        <p:spPr>
          <a:xfrm>
            <a:off x="0" y="2190302"/>
            <a:ext cx="12192000" cy="2477396"/>
          </a:xfrm>
          <a:prstGeom prst="rect">
            <a:avLst/>
          </a:prstGeom>
          <a:noFill/>
          <a:ln>
            <a:noFill/>
          </a:ln>
        </p:spPr>
      </p:pic>
    </p:spTree>
    <p:extLst>
      <p:ext uri="{BB962C8B-B14F-4D97-AF65-F5344CB8AC3E}">
        <p14:creationId xmlns:p14="http://schemas.microsoft.com/office/powerpoint/2010/main" val="1440137342"/>
      </p:ext>
    </p:extLst>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1533</TotalTime>
  <Words>1463</Words>
  <Application>Microsoft Office PowerPoint</Application>
  <PresentationFormat>Widescreen</PresentationFormat>
  <Paragraphs>129</Paragraphs>
  <Slides>20</Slides>
  <Notes>16</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20</vt:i4>
      </vt:variant>
    </vt:vector>
  </HeadingPairs>
  <TitlesOfParts>
    <vt:vector size="24" baseType="lpstr">
      <vt:lpstr>Arial</vt:lpstr>
      <vt:lpstr>Calibri</vt:lpstr>
      <vt:lpstr>Times New Roman</vt:lpstr>
      <vt:lpstr>Office Theme</vt:lpstr>
      <vt:lpstr>IBM University Engagement Project Submission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Manda Anirudh</dc:creator>
  <cp:lastModifiedBy>SHANI VERMA</cp:lastModifiedBy>
  <cp:revision>4</cp:revision>
  <dcterms:created xsi:type="dcterms:W3CDTF">2025-07-08T05:06:56Z</dcterms:created>
  <dcterms:modified xsi:type="dcterms:W3CDTF">2026-09-10T21:29:28Z</dcterms:modified>
</cp:coreProperties>
</file>